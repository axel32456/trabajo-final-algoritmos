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libri (MS) Bold" charset="1" panose="020F0702030404030204"/>
      <p:regular r:id="rId20"/>
    </p:embeddedFont>
    <p:embeddedFont>
      <p:font typeface="Cambria Bold" charset="1" panose="02040803050406030204"/>
      <p:regular r:id="rId21"/>
    </p:embeddedFont>
    <p:embeddedFont>
      <p:font typeface="Calibri (MS) Italics" charset="1" panose="020F05020202040A0204"/>
      <p:regular r:id="rId22"/>
    </p:embeddedFont>
    <p:embeddedFont>
      <p:font typeface="Calibri (MS)" charset="1" panose="020F050202020403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7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8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9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jpe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7.jpeg" Type="http://schemas.openxmlformats.org/officeDocument/2006/relationships/image"/><Relationship Id="rId4" Target="../media/image8.jpe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7.jpeg" Type="http://schemas.openxmlformats.org/officeDocument/2006/relationships/image"/><Relationship Id="rId4" Target="../media/image8.jpe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11" Target="../media/image25.png" Type="http://schemas.openxmlformats.org/officeDocument/2006/relationships/image"/><Relationship Id="rId12" Target="../media/image26.svg" Type="http://schemas.openxmlformats.org/officeDocument/2006/relationships/image"/><Relationship Id="rId13" Target="../media/image27.png" Type="http://schemas.openxmlformats.org/officeDocument/2006/relationships/image"/><Relationship Id="rId14" Target="../media/image28.svg" Type="http://schemas.openxmlformats.org/officeDocument/2006/relationships/image"/><Relationship Id="rId15" Target="../media/image29.png" Type="http://schemas.openxmlformats.org/officeDocument/2006/relationships/image"/><Relationship Id="rId16" Target="../media/image30.svg" Type="http://schemas.openxmlformats.org/officeDocument/2006/relationships/image"/><Relationship Id="rId17" Target="../media/image31.png" Type="http://schemas.openxmlformats.org/officeDocument/2006/relationships/image"/><Relationship Id="rId18" Target="../media/image32.svg" Type="http://schemas.openxmlformats.org/officeDocument/2006/relationships/image"/><Relationship Id="rId19" Target="../media/image33.png" Type="http://schemas.openxmlformats.org/officeDocument/2006/relationships/image"/><Relationship Id="rId2" Target="../notesSlides/notesSlide4.xml" Type="http://schemas.openxmlformats.org/officeDocument/2006/relationships/notesSlide"/><Relationship Id="rId20" Target="../media/image34.svg" Type="http://schemas.openxmlformats.org/officeDocument/2006/relationships/image"/><Relationship Id="rId21" Target="../media/image35.png" Type="http://schemas.openxmlformats.org/officeDocument/2006/relationships/image"/><Relationship Id="rId22" Target="../media/image36.svg" Type="http://schemas.openxmlformats.org/officeDocument/2006/relationships/image"/><Relationship Id="rId3" Target="../media/image7.jpeg" Type="http://schemas.openxmlformats.org/officeDocument/2006/relationships/image"/><Relationship Id="rId4" Target="../media/image8.jpe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7.jpeg" Type="http://schemas.openxmlformats.org/officeDocument/2006/relationships/image"/><Relationship Id="rId4" Target="../media/image8.jpe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svg" Type="http://schemas.openxmlformats.org/officeDocument/2006/relationships/image"/><Relationship Id="rId11" Target="../media/image49.png" Type="http://schemas.openxmlformats.org/officeDocument/2006/relationships/image"/><Relationship Id="rId12" Target="../media/image50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7.jpeg" Type="http://schemas.openxmlformats.org/officeDocument/2006/relationships/image"/><Relationship Id="rId4" Target="../media/image8.jpeg" Type="http://schemas.openxmlformats.org/officeDocument/2006/relationships/image"/><Relationship Id="rId5" Target="../media/image43.png" Type="http://schemas.openxmlformats.org/officeDocument/2006/relationships/image"/><Relationship Id="rId6" Target="../media/image44.svg" Type="http://schemas.openxmlformats.org/officeDocument/2006/relationships/image"/><Relationship Id="rId7" Target="../media/image45.png" Type="http://schemas.openxmlformats.org/officeDocument/2006/relationships/image"/><Relationship Id="rId8" Target="../media/image46.sv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7.jpeg" Type="http://schemas.openxmlformats.org/officeDocument/2006/relationships/image"/><Relationship Id="rId4" Target="../media/image8.jpeg" Type="http://schemas.openxmlformats.org/officeDocument/2006/relationships/image"/><Relationship Id="rId5" Target="../media/image51.jpeg" Type="http://schemas.openxmlformats.org/officeDocument/2006/relationships/image"/><Relationship Id="rId6" Target="../media/image52.png" Type="http://schemas.openxmlformats.org/officeDocument/2006/relationships/image"/><Relationship Id="rId7" Target="../media/image5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7.jpeg" Type="http://schemas.openxmlformats.org/officeDocument/2006/relationships/image"/><Relationship Id="rId4" Target="../media/image8.jpeg" Type="http://schemas.openxmlformats.org/officeDocument/2006/relationships/image"/><Relationship Id="rId5" Target="../media/image54.png" Type="http://schemas.openxmlformats.org/officeDocument/2006/relationships/image"/><Relationship Id="rId6" Target="../media/image5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jpeg" Type="http://schemas.openxmlformats.org/officeDocument/2006/relationships/image"/><Relationship Id="rId3" Target="../media/image57.jpeg" Type="http://schemas.openxmlformats.org/officeDocument/2006/relationships/image"/><Relationship Id="rId4" Target="../media/image58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59.png" Type="http://schemas.openxmlformats.org/officeDocument/2006/relationships/image"/><Relationship Id="rId4" Target="../media/image60.svg" Type="http://schemas.openxmlformats.org/officeDocument/2006/relationships/image"/><Relationship Id="rId5" Target="../media/image61.png" Type="http://schemas.openxmlformats.org/officeDocument/2006/relationships/image"/><Relationship Id="rId6" Target="../media/image62.svg" Type="http://schemas.openxmlformats.org/officeDocument/2006/relationships/image"/><Relationship Id="rId7" Target="../media/image7.jpeg" Type="http://schemas.openxmlformats.org/officeDocument/2006/relationships/image"/><Relationship Id="rId8" Target="../media/image8.jpeg" Type="http://schemas.openxmlformats.org/officeDocument/2006/relationships/image"/><Relationship Id="rId9" Target="../media/image6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64978" y="-2216782"/>
            <a:ext cx="10102786" cy="10102787"/>
          </a:xfrm>
          <a:custGeom>
            <a:avLst/>
            <a:gdLst/>
            <a:ahLst/>
            <a:cxnLst/>
            <a:rect r="r" b="b" t="t" l="l"/>
            <a:pathLst>
              <a:path h="10102787" w="10102786">
                <a:moveTo>
                  <a:pt x="0" y="0"/>
                </a:moveTo>
                <a:lnTo>
                  <a:pt x="10102787" y="0"/>
                </a:lnTo>
                <a:lnTo>
                  <a:pt x="10102787" y="10102787"/>
                </a:lnTo>
                <a:lnTo>
                  <a:pt x="0" y="101027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42418" y="4549778"/>
            <a:ext cx="5530882" cy="5530882"/>
          </a:xfrm>
          <a:custGeom>
            <a:avLst/>
            <a:gdLst/>
            <a:ahLst/>
            <a:cxnLst/>
            <a:rect r="r" b="b" t="t" l="l"/>
            <a:pathLst>
              <a:path h="5530882" w="5530882">
                <a:moveTo>
                  <a:pt x="0" y="0"/>
                </a:moveTo>
                <a:lnTo>
                  <a:pt x="5530882" y="0"/>
                </a:lnTo>
                <a:lnTo>
                  <a:pt x="5530882" y="5530882"/>
                </a:lnTo>
                <a:lnTo>
                  <a:pt x="0" y="55308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2178" y="892178"/>
            <a:ext cx="5896642" cy="739426"/>
          </a:xfrm>
          <a:custGeom>
            <a:avLst/>
            <a:gdLst/>
            <a:ahLst/>
            <a:cxnLst/>
            <a:rect r="r" b="b" t="t" l="l"/>
            <a:pathLst>
              <a:path h="739426" w="5896642">
                <a:moveTo>
                  <a:pt x="0" y="0"/>
                </a:moveTo>
                <a:lnTo>
                  <a:pt x="5896642" y="0"/>
                </a:lnTo>
                <a:lnTo>
                  <a:pt x="5896642" y="739426"/>
                </a:lnTo>
                <a:lnTo>
                  <a:pt x="0" y="7394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14400" y="914400"/>
            <a:ext cx="5852160" cy="694944"/>
            <a:chOff x="0" y="0"/>
            <a:chExt cx="7802880" cy="92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02880" cy="926592"/>
            </a:xfrm>
            <a:custGeom>
              <a:avLst/>
              <a:gdLst/>
              <a:ahLst/>
              <a:cxnLst/>
              <a:rect r="r" b="b" t="t" l="l"/>
              <a:pathLst>
                <a:path h="92659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13970" r="0" b="-11397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892969"/>
            <a:ext cx="5852160" cy="716375"/>
            <a:chOff x="0" y="0"/>
            <a:chExt cx="7802880" cy="9551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02880" cy="955167"/>
            </a:xfrm>
            <a:custGeom>
              <a:avLst/>
              <a:gdLst/>
              <a:ahLst/>
              <a:cxnLst/>
              <a:rect r="r" b="b" t="t" l="l"/>
              <a:pathLst>
                <a:path h="955167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55167"/>
                  </a:lnTo>
                  <a:lnTo>
                    <a:pt x="0" y="95516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09175" r="0" b="-1091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780288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8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ALGORITMOS Y ESTRUCTURAS DE DATOS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011680"/>
            <a:ext cx="13716000" cy="4389120"/>
            <a:chOff x="0" y="0"/>
            <a:chExt cx="18288000" cy="5852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88000" cy="5852160"/>
            </a:xfrm>
            <a:custGeom>
              <a:avLst/>
              <a:gdLst/>
              <a:ahLst/>
              <a:cxnLst/>
              <a:rect r="r" b="b" t="t" l="l"/>
              <a:pathLst>
                <a:path h="58521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852160"/>
                  </a:lnTo>
                  <a:lnTo>
                    <a:pt x="0" y="58521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0848" r="0" b="-1084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2004536"/>
            <a:ext cx="13716000" cy="4396264"/>
            <a:chOff x="0" y="0"/>
            <a:chExt cx="18288000" cy="58616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88000" cy="5861685"/>
            </a:xfrm>
            <a:custGeom>
              <a:avLst/>
              <a:gdLst/>
              <a:ahLst/>
              <a:cxnLst/>
              <a:rect r="r" b="b" t="t" l="l"/>
              <a:pathLst>
                <a:path h="586168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861685"/>
                  </a:lnTo>
                  <a:lnTo>
                    <a:pt x="0" y="586168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0791" r="0" b="-1079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8288000" cy="5871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sz="8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Buscador de</a:t>
              </a:r>
            </a:p>
            <a:p>
              <a:pPr algn="l">
                <a:lnSpc>
                  <a:spcPts val="10080"/>
                </a:lnSpc>
              </a:pPr>
              <a:r>
                <a:rPr lang="en-US" sz="8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Máximas Ocurrencias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6400800"/>
            <a:ext cx="10972800" cy="914400"/>
            <a:chOff x="0" y="0"/>
            <a:chExt cx="14630400" cy="1219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83658" r="0" b="-183657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6350794"/>
            <a:ext cx="10972800" cy="964406"/>
            <a:chOff x="0" y="0"/>
            <a:chExt cx="14630400" cy="12858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0400" cy="1285875"/>
            </a:xfrm>
            <a:custGeom>
              <a:avLst/>
              <a:gdLst/>
              <a:ahLst/>
              <a:cxnLst/>
              <a:rect r="r" b="b" t="t" l="l"/>
              <a:pathLst>
                <a:path h="128587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85875"/>
                  </a:lnTo>
                  <a:lnTo>
                    <a:pt x="0" y="128587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71696" r="0" b="-17169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4630400" cy="1352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Trabajo Práctico Final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2178" y="7658738"/>
            <a:ext cx="10102882" cy="2056162"/>
            <a:chOff x="0" y="0"/>
            <a:chExt cx="13470509" cy="274154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70510" cy="2741549"/>
            </a:xfrm>
            <a:custGeom>
              <a:avLst/>
              <a:gdLst/>
              <a:ahLst/>
              <a:cxnLst/>
              <a:rect r="r" b="b" t="t" l="l"/>
              <a:pathLst>
                <a:path h="2741549" w="13470510">
                  <a:moveTo>
                    <a:pt x="0" y="0"/>
                  </a:moveTo>
                  <a:lnTo>
                    <a:pt x="13470510" y="0"/>
                  </a:lnTo>
                  <a:lnTo>
                    <a:pt x="13470510" y="2741549"/>
                  </a:lnTo>
                  <a:lnTo>
                    <a:pt x="0" y="274154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05840" y="7863840"/>
            <a:ext cx="9875520" cy="731520"/>
            <a:chOff x="0" y="0"/>
            <a:chExt cx="13167360" cy="975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167361" cy="975360"/>
            </a:xfrm>
            <a:custGeom>
              <a:avLst/>
              <a:gdLst/>
              <a:ahLst/>
              <a:cxnLst/>
              <a:rect r="r" b="b" t="t" l="l"/>
              <a:pathLst>
                <a:path h="97536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12864" r="0" b="-21286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05840" y="7828121"/>
            <a:ext cx="9875520" cy="767239"/>
            <a:chOff x="0" y="0"/>
            <a:chExt cx="13167360" cy="102298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167361" cy="1022985"/>
            </a:xfrm>
            <a:custGeom>
              <a:avLst/>
              <a:gdLst/>
              <a:ahLst/>
              <a:cxnLst/>
              <a:rect r="r" b="b" t="t" l="l"/>
              <a:pathLst>
                <a:path h="1022985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1022985"/>
                  </a:lnTo>
                  <a:lnTo>
                    <a:pt x="0" y="102298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00801" r="0" b="-20080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3167360" cy="1070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Alumnos: Axel Sanchez, Tomás Guerrero, Alan Leslie 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8700" y="8892540"/>
            <a:ext cx="9875520" cy="731520"/>
            <a:chOff x="0" y="0"/>
            <a:chExt cx="13167360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167361" cy="975360"/>
            </a:xfrm>
            <a:custGeom>
              <a:avLst/>
              <a:gdLst/>
              <a:ahLst/>
              <a:cxnLst/>
              <a:rect r="r" b="b" t="t" l="l"/>
              <a:pathLst>
                <a:path h="97536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12864" r="0" b="-212865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28700" y="8856821"/>
            <a:ext cx="9875520" cy="767239"/>
            <a:chOff x="0" y="0"/>
            <a:chExt cx="13167360" cy="102298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167361" cy="1022985"/>
            </a:xfrm>
            <a:custGeom>
              <a:avLst/>
              <a:gdLst/>
              <a:ahLst/>
              <a:cxnLst/>
              <a:rect r="r" b="b" t="t" l="l"/>
              <a:pathLst>
                <a:path h="1022985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1022985"/>
                  </a:lnTo>
                  <a:lnTo>
                    <a:pt x="0" y="102298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00801" r="0" b="-20080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3167360" cy="1070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Profesor: Leandro Caballero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18332482" cy="2056162"/>
            <a:chOff x="0" y="0"/>
            <a:chExt cx="24443309" cy="27415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3310" cy="2741549"/>
            </a:xfrm>
            <a:custGeom>
              <a:avLst/>
              <a:gdLst/>
              <a:ahLst/>
              <a:cxnLst/>
              <a:rect r="r" b="b" t="t" l="l"/>
              <a:pathLst>
                <a:path h="2741549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2741549"/>
                  </a:lnTo>
                  <a:lnTo>
                    <a:pt x="0" y="2741549"/>
                  </a:lnTo>
                  <a:close/>
                </a:path>
              </a:pathLst>
            </a:custGeom>
            <a:solidFill>
              <a:srgbClr val="1E2761"/>
            </a:solidFill>
            <a:ln w="25400" cap="sq">
              <a:solidFill>
                <a:srgbClr val="1E276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6459200" cy="2011680"/>
            <a:chOff x="0" y="0"/>
            <a:chExt cx="21945600" cy="26822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312" r="0" b="-10931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-7144"/>
            <a:ext cx="16459200" cy="2018824"/>
            <a:chOff x="0" y="0"/>
            <a:chExt cx="21945600" cy="26917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2691765"/>
            </a:xfrm>
            <a:custGeom>
              <a:avLst/>
              <a:gdLst/>
              <a:ahLst/>
              <a:cxnLst/>
              <a:rect r="r" b="b" t="t" l="l"/>
              <a:pathLst>
                <a:path h="26917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91765"/>
                  </a:lnTo>
                  <a:lnTo>
                    <a:pt x="0" y="26917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858" r="0" b="-10885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945600" cy="2701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8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Descripción del Proyecto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2286000"/>
            <a:ext cx="16459200" cy="1463040"/>
            <a:chOff x="0" y="0"/>
            <a:chExt cx="21945600" cy="19507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054" r="0" b="-16905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2250281"/>
            <a:ext cx="16459200" cy="1498759"/>
            <a:chOff x="0" y="0"/>
            <a:chExt cx="21945600" cy="19983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3982" r="0" b="-163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1945600" cy="2065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Una empresa informática necesita un buscador de máximas ocurrencias capaz de analizar archivos CSV y determinar qué elementos aparecen con mayor frecuencia.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09298" y="4092578"/>
            <a:ext cx="8273986" cy="2421826"/>
          </a:xfrm>
          <a:custGeom>
            <a:avLst/>
            <a:gdLst/>
            <a:ahLst/>
            <a:cxnLst/>
            <a:rect r="r" b="b" t="t" l="l"/>
            <a:pathLst>
              <a:path h="2421826" w="8273986">
                <a:moveTo>
                  <a:pt x="0" y="0"/>
                </a:moveTo>
                <a:lnTo>
                  <a:pt x="8273987" y="0"/>
                </a:lnTo>
                <a:lnTo>
                  <a:pt x="8273987" y="2421827"/>
                </a:lnTo>
                <a:lnTo>
                  <a:pt x="0" y="24218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60704" y="4297680"/>
            <a:ext cx="7498080" cy="694944"/>
            <a:chOff x="0" y="0"/>
            <a:chExt cx="9997440" cy="9265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087" r="0" b="-160086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60704" y="4254818"/>
            <a:ext cx="7498080" cy="737806"/>
            <a:chOff x="0" y="0"/>
            <a:chExt cx="9997440" cy="98374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97440" cy="983742"/>
            </a:xfrm>
            <a:custGeom>
              <a:avLst/>
              <a:gdLst/>
              <a:ahLst/>
              <a:cxnLst/>
              <a:rect r="r" b="b" t="t" l="l"/>
              <a:pathLst>
                <a:path h="98374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83742"/>
                  </a:lnTo>
                  <a:lnTo>
                    <a:pt x="0" y="9837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8019" r="0" b="-14801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9997440" cy="1040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📂  Entrada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60704" y="4992624"/>
            <a:ext cx="7498080" cy="1316736"/>
            <a:chOff x="0" y="0"/>
            <a:chExt cx="9997440" cy="17556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974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879" r="0" b="-60878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60704" y="4956905"/>
            <a:ext cx="7498080" cy="1352455"/>
            <a:chOff x="0" y="0"/>
            <a:chExt cx="9997440" cy="180327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997440" cy="1803273"/>
            </a:xfrm>
            <a:custGeom>
              <a:avLst/>
              <a:gdLst/>
              <a:ahLst/>
              <a:cxnLst/>
              <a:rect r="r" b="b" t="t" l="l"/>
              <a:pathLst>
                <a:path h="1803273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803273"/>
                  </a:lnTo>
                  <a:lnTo>
                    <a:pt x="0" y="18032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026" r="0" b="-5802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9997440" cy="18508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Archivo CSV cargado por el usuario, convertido a List&lt;string&gt;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9304658" y="4092578"/>
            <a:ext cx="8273987" cy="2421826"/>
          </a:xfrm>
          <a:custGeom>
            <a:avLst/>
            <a:gdLst/>
            <a:ahLst/>
            <a:cxnLst/>
            <a:rect r="r" b="b" t="t" l="l"/>
            <a:pathLst>
              <a:path h="2421826" w="8273987">
                <a:moveTo>
                  <a:pt x="0" y="0"/>
                </a:moveTo>
                <a:lnTo>
                  <a:pt x="8273987" y="0"/>
                </a:lnTo>
                <a:lnTo>
                  <a:pt x="8273987" y="2421827"/>
                </a:lnTo>
                <a:lnTo>
                  <a:pt x="0" y="24218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9656064" y="4297680"/>
            <a:ext cx="7498080" cy="694944"/>
            <a:chOff x="0" y="0"/>
            <a:chExt cx="9997440" cy="9265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087" r="0" b="-160086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656064" y="4254818"/>
            <a:ext cx="7498080" cy="737806"/>
            <a:chOff x="0" y="0"/>
            <a:chExt cx="9997440" cy="98374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997440" cy="983742"/>
            </a:xfrm>
            <a:custGeom>
              <a:avLst/>
              <a:gdLst/>
              <a:ahLst/>
              <a:cxnLst/>
              <a:rect r="r" b="b" t="t" l="l"/>
              <a:pathLst>
                <a:path h="98374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83742"/>
                  </a:lnTo>
                  <a:lnTo>
                    <a:pt x="0" y="9837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8019" r="0" b="-14801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9997440" cy="1040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🔍  Búsqueda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656064" y="4992624"/>
            <a:ext cx="7498080" cy="1316736"/>
            <a:chOff x="0" y="0"/>
            <a:chExt cx="9997440" cy="17556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9974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879" r="0" b="-60878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56064" y="4956905"/>
            <a:ext cx="7498080" cy="1352455"/>
            <a:chOff x="0" y="0"/>
            <a:chExt cx="9997440" cy="180327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997440" cy="1803273"/>
            </a:xfrm>
            <a:custGeom>
              <a:avLst/>
              <a:gdLst/>
              <a:ahLst/>
              <a:cxnLst/>
              <a:rect r="r" b="b" t="t" l="l"/>
              <a:pathLst>
                <a:path h="1803273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803273"/>
                  </a:lnTo>
                  <a:lnTo>
                    <a:pt x="0" y="18032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026" r="0" b="-5802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9997440" cy="18508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Top-N elementos más frecuentes mediante Heap o Ordenamiento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709298" y="6835778"/>
            <a:ext cx="8273986" cy="2421826"/>
          </a:xfrm>
          <a:custGeom>
            <a:avLst/>
            <a:gdLst/>
            <a:ahLst/>
            <a:cxnLst/>
            <a:rect r="r" b="b" t="t" l="l"/>
            <a:pathLst>
              <a:path h="2421826" w="8273986">
                <a:moveTo>
                  <a:pt x="0" y="0"/>
                </a:moveTo>
                <a:lnTo>
                  <a:pt x="8273987" y="0"/>
                </a:lnTo>
                <a:lnTo>
                  <a:pt x="8273987" y="2421827"/>
                </a:lnTo>
                <a:lnTo>
                  <a:pt x="0" y="24218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060704" y="7040880"/>
            <a:ext cx="7498080" cy="694944"/>
            <a:chOff x="0" y="0"/>
            <a:chExt cx="9997440" cy="9265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087" r="0" b="-160086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60704" y="6998018"/>
            <a:ext cx="7498080" cy="737806"/>
            <a:chOff x="0" y="0"/>
            <a:chExt cx="9997440" cy="98374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997440" cy="983742"/>
            </a:xfrm>
            <a:custGeom>
              <a:avLst/>
              <a:gdLst/>
              <a:ahLst/>
              <a:cxnLst/>
              <a:rect r="r" b="b" t="t" l="l"/>
              <a:pathLst>
                <a:path h="98374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83742"/>
                  </a:lnTo>
                  <a:lnTo>
                    <a:pt x="0" y="9837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8019" r="0" b="-14801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9997440" cy="1040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📊  Comparación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60704" y="7735824"/>
            <a:ext cx="7498080" cy="1316736"/>
            <a:chOff x="0" y="0"/>
            <a:chExt cx="9997440" cy="175564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9974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879" r="0" b="-60878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60704" y="7700105"/>
            <a:ext cx="7498080" cy="1352455"/>
            <a:chOff x="0" y="0"/>
            <a:chExt cx="9997440" cy="180327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997440" cy="1803273"/>
            </a:xfrm>
            <a:custGeom>
              <a:avLst/>
              <a:gdLst/>
              <a:ahLst/>
              <a:cxnLst/>
              <a:rect r="r" b="b" t="t" l="l"/>
              <a:pathLst>
                <a:path h="1803273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803273"/>
                  </a:lnTo>
                  <a:lnTo>
                    <a:pt x="0" y="18032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026" r="0" b="-5802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9997440" cy="18508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Consulta1 mide y compara los tiempos de ambos algoritmos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9304658" y="6835778"/>
            <a:ext cx="8273987" cy="2421826"/>
          </a:xfrm>
          <a:custGeom>
            <a:avLst/>
            <a:gdLst/>
            <a:ahLst/>
            <a:cxnLst/>
            <a:rect r="r" b="b" t="t" l="l"/>
            <a:pathLst>
              <a:path h="2421826" w="8273987">
                <a:moveTo>
                  <a:pt x="0" y="0"/>
                </a:moveTo>
                <a:lnTo>
                  <a:pt x="8273987" y="0"/>
                </a:lnTo>
                <a:lnTo>
                  <a:pt x="8273987" y="2421827"/>
                </a:lnTo>
                <a:lnTo>
                  <a:pt x="0" y="24218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9656064" y="7040880"/>
            <a:ext cx="7498080" cy="694944"/>
            <a:chOff x="0" y="0"/>
            <a:chExt cx="9997440" cy="9265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087" r="0" b="-160086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656064" y="6998018"/>
            <a:ext cx="7498080" cy="737806"/>
            <a:chOff x="0" y="0"/>
            <a:chExt cx="9997440" cy="98374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997440" cy="983742"/>
            </a:xfrm>
            <a:custGeom>
              <a:avLst/>
              <a:gdLst/>
              <a:ahLst/>
              <a:cxnLst/>
              <a:rect r="r" b="b" t="t" l="l"/>
              <a:pathLst>
                <a:path h="98374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83742"/>
                  </a:lnTo>
                  <a:lnTo>
                    <a:pt x="0" y="9837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8019" r="0" b="-14801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9997440" cy="1040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🌲  Visualización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656064" y="7735824"/>
            <a:ext cx="7498080" cy="1316736"/>
            <a:chOff x="0" y="0"/>
            <a:chExt cx="9997440" cy="175564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9974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879" r="0" b="-60878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656064" y="7700105"/>
            <a:ext cx="7498080" cy="1352455"/>
            <a:chOff x="0" y="0"/>
            <a:chExt cx="9997440" cy="180327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997440" cy="1803273"/>
            </a:xfrm>
            <a:custGeom>
              <a:avLst/>
              <a:gdLst/>
              <a:ahLst/>
              <a:cxnLst/>
              <a:rect r="r" b="b" t="t" l="l"/>
              <a:pathLst>
                <a:path h="1803273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803273"/>
                  </a:lnTo>
                  <a:lnTo>
                    <a:pt x="0" y="18032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026" r="0" b="-5802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9997440" cy="18508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Consulta2 muestra el camino al nodo más izquierdo del Heap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18332482" cy="2056162"/>
            <a:chOff x="0" y="0"/>
            <a:chExt cx="24443309" cy="27415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3310" cy="2741549"/>
            </a:xfrm>
            <a:custGeom>
              <a:avLst/>
              <a:gdLst/>
              <a:ahLst/>
              <a:cxnLst/>
              <a:rect r="r" b="b" t="t" l="l"/>
              <a:pathLst>
                <a:path h="2741549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2741549"/>
                  </a:lnTo>
                  <a:lnTo>
                    <a:pt x="0" y="2741549"/>
                  </a:lnTo>
                  <a:close/>
                </a:path>
              </a:pathLst>
            </a:custGeom>
            <a:solidFill>
              <a:srgbClr val="1E2761"/>
            </a:solidFill>
            <a:ln w="25400" cap="sq">
              <a:solidFill>
                <a:srgbClr val="1E276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6459200" cy="2011680"/>
            <a:chOff x="0" y="0"/>
            <a:chExt cx="21945600" cy="26822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312" r="0" b="-10931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-7144"/>
            <a:ext cx="16459200" cy="2018824"/>
            <a:chOff x="0" y="0"/>
            <a:chExt cx="21945600" cy="26917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2691765"/>
            </a:xfrm>
            <a:custGeom>
              <a:avLst/>
              <a:gdLst/>
              <a:ahLst/>
              <a:cxnLst/>
              <a:rect r="r" b="b" t="t" l="l"/>
              <a:pathLst>
                <a:path h="26917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91765"/>
                  </a:lnTo>
                  <a:lnTo>
                    <a:pt x="0" y="26917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858" r="0" b="-10885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945600" cy="2701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8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Arquitectura de la Solución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720978" y="2355218"/>
            <a:ext cx="12845987" cy="1470850"/>
          </a:xfrm>
          <a:custGeom>
            <a:avLst/>
            <a:gdLst/>
            <a:ahLst/>
            <a:cxnLst/>
            <a:rect r="r" b="b" t="t" l="l"/>
            <a:pathLst>
              <a:path h="1470850" w="12845987">
                <a:moveTo>
                  <a:pt x="0" y="0"/>
                </a:moveTo>
                <a:lnTo>
                  <a:pt x="12845987" y="0"/>
                </a:lnTo>
                <a:lnTo>
                  <a:pt x="12845987" y="1470851"/>
                </a:lnTo>
                <a:lnTo>
                  <a:pt x="0" y="14708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926080" y="2450592"/>
            <a:ext cx="12435840" cy="585216"/>
            <a:chOff x="0" y="0"/>
            <a:chExt cx="16581120" cy="7802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581120" cy="780288"/>
            </a:xfrm>
            <a:custGeom>
              <a:avLst/>
              <a:gdLst/>
              <a:ahLst/>
              <a:cxnLst/>
              <a:rect r="r" b="b" t="t" l="l"/>
              <a:pathLst>
                <a:path h="78028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3769" r="0" b="-363767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926080" y="2407730"/>
            <a:ext cx="12435840" cy="628078"/>
            <a:chOff x="0" y="0"/>
            <a:chExt cx="16581120" cy="8374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581120" cy="837438"/>
            </a:xfrm>
            <a:custGeom>
              <a:avLst/>
              <a:gdLst/>
              <a:ahLst/>
              <a:cxnLst/>
              <a:rect r="r" b="b" t="t" l="l"/>
              <a:pathLst>
                <a:path h="83743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837438"/>
                  </a:lnTo>
                  <a:lnTo>
                    <a:pt x="0" y="837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5800" r="0" b="-33580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6581120" cy="894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Vista (Windows Forms)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926080" y="3072384"/>
            <a:ext cx="12435840" cy="512064"/>
            <a:chOff x="0" y="0"/>
            <a:chExt cx="16581120" cy="6827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581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879" r="0" b="-422877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926080" y="3043809"/>
            <a:ext cx="12435840" cy="540639"/>
            <a:chOff x="0" y="0"/>
            <a:chExt cx="16581120" cy="7208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581120" cy="720852"/>
            </a:xfrm>
            <a:custGeom>
              <a:avLst/>
              <a:gdLst/>
              <a:ahLst/>
              <a:cxnLst/>
              <a:rect r="r" b="b" t="t" l="l"/>
              <a:pathLst>
                <a:path h="720852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197" r="0" b="-39819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658112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Inicio.cs  ·  Form principal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744902" y="3770566"/>
            <a:ext cx="66675" cy="469011"/>
            <a:chOff x="0" y="0"/>
            <a:chExt cx="88900" cy="6253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8900" cy="625348"/>
            </a:xfrm>
            <a:custGeom>
              <a:avLst/>
              <a:gdLst/>
              <a:ahLst/>
              <a:cxnLst/>
              <a:rect r="r" b="b" t="t" l="l"/>
              <a:pathLst>
                <a:path h="625348" w="88900">
                  <a:moveTo>
                    <a:pt x="0" y="0"/>
                  </a:moveTo>
                  <a:lnTo>
                    <a:pt x="88900" y="625348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853157" t="0" r="-853142" b="0"/>
              </a:stretch>
            </a:blipFill>
            <a:ln w="38100" cap="sq">
              <a:solidFill>
                <a:srgbClr val="64748B"/>
              </a:solidFill>
              <a:prstDash val="solid"/>
              <a:miter/>
            </a:ln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2720978" y="4184018"/>
            <a:ext cx="12845987" cy="1470850"/>
          </a:xfrm>
          <a:custGeom>
            <a:avLst/>
            <a:gdLst/>
            <a:ahLst/>
            <a:cxnLst/>
            <a:rect r="r" b="b" t="t" l="l"/>
            <a:pathLst>
              <a:path h="1470850" w="12845987">
                <a:moveTo>
                  <a:pt x="0" y="0"/>
                </a:moveTo>
                <a:lnTo>
                  <a:pt x="12845987" y="0"/>
                </a:lnTo>
                <a:lnTo>
                  <a:pt x="12845987" y="1470851"/>
                </a:lnTo>
                <a:lnTo>
                  <a:pt x="0" y="14708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2926080" y="4279392"/>
            <a:ext cx="12435840" cy="585216"/>
            <a:chOff x="0" y="0"/>
            <a:chExt cx="16581120" cy="7802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581120" cy="780288"/>
            </a:xfrm>
            <a:custGeom>
              <a:avLst/>
              <a:gdLst/>
              <a:ahLst/>
              <a:cxnLst/>
              <a:rect r="r" b="b" t="t" l="l"/>
              <a:pathLst>
                <a:path h="78028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3769" r="0" b="-363767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926080" y="4236530"/>
            <a:ext cx="12435840" cy="628078"/>
            <a:chOff x="0" y="0"/>
            <a:chExt cx="16581120" cy="83743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581120" cy="837438"/>
            </a:xfrm>
            <a:custGeom>
              <a:avLst/>
              <a:gdLst/>
              <a:ahLst/>
              <a:cxnLst/>
              <a:rect r="r" b="b" t="t" l="l"/>
              <a:pathLst>
                <a:path h="83743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837438"/>
                  </a:lnTo>
                  <a:lnTo>
                    <a:pt x="0" y="837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5800" r="0" b="-33580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6581120" cy="894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Lógica  –  Clase Estrategia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926080" y="4901184"/>
            <a:ext cx="12435840" cy="512064"/>
            <a:chOff x="0" y="0"/>
            <a:chExt cx="16581120" cy="6827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581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879" r="0" b="-422877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926080" y="4872609"/>
            <a:ext cx="12435840" cy="540639"/>
            <a:chOff x="0" y="0"/>
            <a:chExt cx="16581120" cy="7208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581120" cy="720852"/>
            </a:xfrm>
            <a:custGeom>
              <a:avLst/>
              <a:gdLst/>
              <a:ahLst/>
              <a:cxnLst/>
              <a:rect r="r" b="b" t="t" l="l"/>
              <a:pathLst>
                <a:path h="720852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197" r="0" b="-39819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658112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BuscarConHeap  ·  BuscarConOtro  ·  Consulta1/2/3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744902" y="5599366"/>
            <a:ext cx="66675" cy="469011"/>
            <a:chOff x="0" y="0"/>
            <a:chExt cx="88900" cy="62534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8900" cy="625348"/>
            </a:xfrm>
            <a:custGeom>
              <a:avLst/>
              <a:gdLst/>
              <a:ahLst/>
              <a:cxnLst/>
              <a:rect r="r" b="b" t="t" l="l"/>
              <a:pathLst>
                <a:path h="625348" w="88900">
                  <a:moveTo>
                    <a:pt x="0" y="0"/>
                  </a:moveTo>
                  <a:lnTo>
                    <a:pt x="88900" y="625348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853157" t="0" r="-853142" b="0"/>
              </a:stretch>
            </a:blipFill>
            <a:ln w="38100" cap="sq">
              <a:solidFill>
                <a:srgbClr val="64748B"/>
              </a:solidFill>
              <a:prstDash val="solid"/>
              <a:miter/>
            </a:ln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2720978" y="6012818"/>
            <a:ext cx="12845987" cy="1470850"/>
          </a:xfrm>
          <a:custGeom>
            <a:avLst/>
            <a:gdLst/>
            <a:ahLst/>
            <a:cxnLst/>
            <a:rect r="r" b="b" t="t" l="l"/>
            <a:pathLst>
              <a:path h="1470850" w="12845987">
                <a:moveTo>
                  <a:pt x="0" y="0"/>
                </a:moveTo>
                <a:lnTo>
                  <a:pt x="12845987" y="0"/>
                </a:lnTo>
                <a:lnTo>
                  <a:pt x="12845987" y="1470851"/>
                </a:lnTo>
                <a:lnTo>
                  <a:pt x="0" y="14708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2926080" y="6108192"/>
            <a:ext cx="12435840" cy="585216"/>
            <a:chOff x="0" y="0"/>
            <a:chExt cx="16581120" cy="7802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6581120" cy="780288"/>
            </a:xfrm>
            <a:custGeom>
              <a:avLst/>
              <a:gdLst/>
              <a:ahLst/>
              <a:cxnLst/>
              <a:rect r="r" b="b" t="t" l="l"/>
              <a:pathLst>
                <a:path h="78028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3769" r="0" b="-363767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926080" y="6065330"/>
            <a:ext cx="12435840" cy="628078"/>
            <a:chOff x="0" y="0"/>
            <a:chExt cx="16581120" cy="83743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581120" cy="837438"/>
            </a:xfrm>
            <a:custGeom>
              <a:avLst/>
              <a:gdLst/>
              <a:ahLst/>
              <a:cxnLst/>
              <a:rect r="r" b="b" t="t" l="l"/>
              <a:pathLst>
                <a:path h="83743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837438"/>
                  </a:lnTo>
                  <a:lnTo>
                    <a:pt x="0" y="837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5800" r="0" b="-33580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6581120" cy="894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Modelo  –  Clase Dato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926080" y="6729984"/>
            <a:ext cx="12435840" cy="512064"/>
            <a:chOff x="0" y="0"/>
            <a:chExt cx="16581120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581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879" r="0" b="-422877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2926080" y="6701409"/>
            <a:ext cx="12435840" cy="540639"/>
            <a:chOff x="0" y="0"/>
            <a:chExt cx="16581120" cy="72085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581120" cy="720852"/>
            </a:xfrm>
            <a:custGeom>
              <a:avLst/>
              <a:gdLst/>
              <a:ahLst/>
              <a:cxnLst/>
              <a:rect r="r" b="b" t="t" l="l"/>
              <a:pathLst>
                <a:path h="720852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197" r="0" b="-39819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658112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ocurrencia  ·  texto  ·  ToString()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744902" y="7428166"/>
            <a:ext cx="66675" cy="469011"/>
            <a:chOff x="0" y="0"/>
            <a:chExt cx="88900" cy="62534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8900" cy="625348"/>
            </a:xfrm>
            <a:custGeom>
              <a:avLst/>
              <a:gdLst/>
              <a:ahLst/>
              <a:cxnLst/>
              <a:rect r="r" b="b" t="t" l="l"/>
              <a:pathLst>
                <a:path h="625348" w="88900">
                  <a:moveTo>
                    <a:pt x="0" y="0"/>
                  </a:moveTo>
                  <a:lnTo>
                    <a:pt x="88900" y="625348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853157" t="0" r="-853142" b="0"/>
              </a:stretch>
            </a:blipFill>
            <a:ln w="38100" cap="sq">
              <a:solidFill>
                <a:srgbClr val="64748B"/>
              </a:solidFill>
              <a:prstDash val="solid"/>
              <a:miter/>
            </a:ln>
          </p:spPr>
        </p:sp>
      </p:grpSp>
      <p:sp>
        <p:nvSpPr>
          <p:cNvPr name="Freeform 48" id="48"/>
          <p:cNvSpPr/>
          <p:nvPr/>
        </p:nvSpPr>
        <p:spPr>
          <a:xfrm flipH="false" flipV="false" rot="0">
            <a:off x="2720978" y="7841618"/>
            <a:ext cx="12845987" cy="1470851"/>
          </a:xfrm>
          <a:custGeom>
            <a:avLst/>
            <a:gdLst/>
            <a:ahLst/>
            <a:cxnLst/>
            <a:rect r="r" b="b" t="t" l="l"/>
            <a:pathLst>
              <a:path h="1470851" w="12845987">
                <a:moveTo>
                  <a:pt x="0" y="0"/>
                </a:moveTo>
                <a:lnTo>
                  <a:pt x="12845987" y="0"/>
                </a:lnTo>
                <a:lnTo>
                  <a:pt x="12845987" y="1470851"/>
                </a:lnTo>
                <a:lnTo>
                  <a:pt x="0" y="147085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2926080" y="7936992"/>
            <a:ext cx="12435840" cy="585216"/>
            <a:chOff x="0" y="0"/>
            <a:chExt cx="16581120" cy="78028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6581120" cy="780288"/>
            </a:xfrm>
            <a:custGeom>
              <a:avLst/>
              <a:gdLst/>
              <a:ahLst/>
              <a:cxnLst/>
              <a:rect r="r" b="b" t="t" l="l"/>
              <a:pathLst>
                <a:path h="78028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3769" r="0" b="-363767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2926080" y="7894130"/>
            <a:ext cx="12435840" cy="628078"/>
            <a:chOff x="0" y="0"/>
            <a:chExt cx="16581120" cy="83743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6581120" cy="837438"/>
            </a:xfrm>
            <a:custGeom>
              <a:avLst/>
              <a:gdLst/>
              <a:ahLst/>
              <a:cxnLst/>
              <a:rect r="r" b="b" t="t" l="l"/>
              <a:pathLst>
                <a:path h="83743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837438"/>
                  </a:lnTo>
                  <a:lnTo>
                    <a:pt x="0" y="837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5800" r="0" b="-33580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16581120" cy="894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Datos  –  Archivo CSV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926080" y="8558784"/>
            <a:ext cx="12435840" cy="512064"/>
            <a:chOff x="0" y="0"/>
            <a:chExt cx="16581120" cy="68275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6581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879" r="0" b="-422877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2926080" y="8530209"/>
            <a:ext cx="12435840" cy="540639"/>
            <a:chOff x="0" y="0"/>
            <a:chExt cx="16581120" cy="7208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6581120" cy="720852"/>
            </a:xfrm>
            <a:custGeom>
              <a:avLst/>
              <a:gdLst/>
              <a:ahLst/>
              <a:cxnLst/>
              <a:rect r="r" b="b" t="t" l="l"/>
              <a:pathLst>
                <a:path h="720852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197" r="0" b="-39819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658112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List&lt;string&gt; datos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18332482" cy="2056162"/>
            <a:chOff x="0" y="0"/>
            <a:chExt cx="24443309" cy="27415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3310" cy="2741549"/>
            </a:xfrm>
            <a:custGeom>
              <a:avLst/>
              <a:gdLst/>
              <a:ahLst/>
              <a:cxnLst/>
              <a:rect r="r" b="b" t="t" l="l"/>
              <a:pathLst>
                <a:path h="2741549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2741549"/>
                  </a:lnTo>
                  <a:lnTo>
                    <a:pt x="0" y="2741549"/>
                  </a:lnTo>
                  <a:close/>
                </a:path>
              </a:pathLst>
            </a:custGeom>
            <a:solidFill>
              <a:srgbClr val="0F1B4C"/>
            </a:solidFill>
            <a:ln w="25400" cap="sq">
              <a:solidFill>
                <a:srgbClr val="0F1B4C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6459200" cy="2011680"/>
            <a:chOff x="0" y="0"/>
            <a:chExt cx="21945600" cy="26822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312" r="0" b="-10931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-7144"/>
            <a:ext cx="16459200" cy="2018824"/>
            <a:chOff x="0" y="0"/>
            <a:chExt cx="21945600" cy="26917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2691765"/>
            </a:xfrm>
            <a:custGeom>
              <a:avLst/>
              <a:gdLst/>
              <a:ahLst/>
              <a:cxnLst/>
              <a:rect r="r" b="b" t="t" l="l"/>
              <a:pathLst>
                <a:path h="26917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91765"/>
                  </a:lnTo>
                  <a:lnTo>
                    <a:pt x="0" y="26917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858" r="0" b="-10885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945600" cy="2701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8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Métodos Implementados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09298" y="2263778"/>
            <a:ext cx="8274082" cy="1544098"/>
          </a:xfrm>
          <a:custGeom>
            <a:avLst/>
            <a:gdLst/>
            <a:ahLst/>
            <a:cxnLst/>
            <a:rect r="r" b="b" t="t" l="l"/>
            <a:pathLst>
              <a:path h="1544098" w="8274082">
                <a:moveTo>
                  <a:pt x="0" y="0"/>
                </a:moveTo>
                <a:lnTo>
                  <a:pt x="8274082" y="0"/>
                </a:lnTo>
                <a:lnTo>
                  <a:pt x="8274082" y="1544098"/>
                </a:lnTo>
                <a:lnTo>
                  <a:pt x="0" y="15440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28754" y="2483234"/>
            <a:ext cx="3519202" cy="556450"/>
          </a:xfrm>
          <a:custGeom>
            <a:avLst/>
            <a:gdLst/>
            <a:ahLst/>
            <a:cxnLst/>
            <a:rect r="r" b="b" t="t" l="l"/>
            <a:pathLst>
              <a:path h="556450" w="3519202">
                <a:moveTo>
                  <a:pt x="0" y="0"/>
                </a:moveTo>
                <a:lnTo>
                  <a:pt x="3519202" y="0"/>
                </a:lnTo>
                <a:lnTo>
                  <a:pt x="3519202" y="556451"/>
                </a:lnTo>
                <a:lnTo>
                  <a:pt x="0" y="5564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50976" y="2505456"/>
            <a:ext cx="3474720" cy="512064"/>
            <a:chOff x="0" y="0"/>
            <a:chExt cx="4632960" cy="682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32960" cy="682752"/>
            </a:xfrm>
            <a:custGeom>
              <a:avLst/>
              <a:gdLst/>
              <a:ahLst/>
              <a:cxnLst/>
              <a:rect r="r" b="b" t="t" l="l"/>
              <a:pathLst>
                <a:path h="68275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127" r="0" b="-8212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50976" y="2476881"/>
            <a:ext cx="3474720" cy="540639"/>
            <a:chOff x="0" y="0"/>
            <a:chExt cx="4632960" cy="720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32960" cy="720852"/>
            </a:xfrm>
            <a:custGeom>
              <a:avLst/>
              <a:gdLst/>
              <a:ahLst/>
              <a:cxnLst/>
              <a:rect r="r" b="b" t="t" l="l"/>
              <a:pathLst>
                <a:path h="72085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5231" r="0" b="-7523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63296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BuscarConHeap()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7552" y="3090672"/>
            <a:ext cx="7717536" cy="548640"/>
            <a:chOff x="0" y="0"/>
            <a:chExt cx="10290048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90048" cy="731520"/>
            </a:xfrm>
            <a:custGeom>
              <a:avLst/>
              <a:gdLst/>
              <a:ahLst/>
              <a:cxnLst/>
              <a:rect r="r" b="b" t="t" l="l"/>
              <a:pathLst>
                <a:path h="731520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899" r="0" b="-223899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87552" y="3062097"/>
            <a:ext cx="7717536" cy="577215"/>
            <a:chOff x="0" y="0"/>
            <a:chExt cx="10290048" cy="7696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90048" cy="769620"/>
            </a:xfrm>
            <a:custGeom>
              <a:avLst/>
              <a:gdLst/>
              <a:ahLst/>
              <a:cxnLst/>
              <a:rect r="r" b="b" t="t" l="l"/>
              <a:pathLst>
                <a:path h="769620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0520" r="0" b="-21052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290048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Max-Heap para extraer los N elementos más frecuentes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709298" y="4184018"/>
            <a:ext cx="8274082" cy="1544098"/>
          </a:xfrm>
          <a:custGeom>
            <a:avLst/>
            <a:gdLst/>
            <a:ahLst/>
            <a:cxnLst/>
            <a:rect r="r" b="b" t="t" l="l"/>
            <a:pathLst>
              <a:path h="1544098" w="8274082">
                <a:moveTo>
                  <a:pt x="0" y="0"/>
                </a:moveTo>
                <a:lnTo>
                  <a:pt x="8274082" y="0"/>
                </a:lnTo>
                <a:lnTo>
                  <a:pt x="8274082" y="1544098"/>
                </a:lnTo>
                <a:lnTo>
                  <a:pt x="0" y="15440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28754" y="4403474"/>
            <a:ext cx="3519202" cy="556450"/>
          </a:xfrm>
          <a:custGeom>
            <a:avLst/>
            <a:gdLst/>
            <a:ahLst/>
            <a:cxnLst/>
            <a:rect r="r" b="b" t="t" l="l"/>
            <a:pathLst>
              <a:path h="556450" w="3519202">
                <a:moveTo>
                  <a:pt x="0" y="0"/>
                </a:moveTo>
                <a:lnTo>
                  <a:pt x="3519202" y="0"/>
                </a:lnTo>
                <a:lnTo>
                  <a:pt x="3519202" y="556451"/>
                </a:lnTo>
                <a:lnTo>
                  <a:pt x="0" y="5564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950976" y="4425696"/>
            <a:ext cx="3474720" cy="512064"/>
            <a:chOff x="0" y="0"/>
            <a:chExt cx="4632960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632960" cy="682752"/>
            </a:xfrm>
            <a:custGeom>
              <a:avLst/>
              <a:gdLst/>
              <a:ahLst/>
              <a:cxnLst/>
              <a:rect r="r" b="b" t="t" l="l"/>
              <a:pathLst>
                <a:path h="68275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127" r="0" b="-82127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50976" y="4397121"/>
            <a:ext cx="3474720" cy="540639"/>
            <a:chOff x="0" y="0"/>
            <a:chExt cx="4632960" cy="7208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632960" cy="720852"/>
            </a:xfrm>
            <a:custGeom>
              <a:avLst/>
              <a:gdLst/>
              <a:ahLst/>
              <a:cxnLst/>
              <a:rect r="r" b="b" t="t" l="l"/>
              <a:pathLst>
                <a:path h="72085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5231" r="0" b="-7523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63296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BuscarConOtro()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87552" y="5010912"/>
            <a:ext cx="7717536" cy="548640"/>
            <a:chOff x="0" y="0"/>
            <a:chExt cx="10290048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90048" cy="731520"/>
            </a:xfrm>
            <a:custGeom>
              <a:avLst/>
              <a:gdLst/>
              <a:ahLst/>
              <a:cxnLst/>
              <a:rect r="r" b="b" t="t" l="l"/>
              <a:pathLst>
                <a:path h="731520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899" r="0" b="-223899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87552" y="4982337"/>
            <a:ext cx="7717536" cy="577215"/>
            <a:chOff x="0" y="0"/>
            <a:chExt cx="10290048" cy="7696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290048" cy="769620"/>
            </a:xfrm>
            <a:custGeom>
              <a:avLst/>
              <a:gdLst/>
              <a:ahLst/>
              <a:cxnLst/>
              <a:rect r="r" b="b" t="t" l="l"/>
              <a:pathLst>
                <a:path h="769620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0520" r="0" b="-21052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290048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Ordenamiento por selección descendente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709298" y="6104258"/>
            <a:ext cx="8274082" cy="1544098"/>
          </a:xfrm>
          <a:custGeom>
            <a:avLst/>
            <a:gdLst/>
            <a:ahLst/>
            <a:cxnLst/>
            <a:rect r="r" b="b" t="t" l="l"/>
            <a:pathLst>
              <a:path h="1544098" w="8274082">
                <a:moveTo>
                  <a:pt x="0" y="0"/>
                </a:moveTo>
                <a:lnTo>
                  <a:pt x="8274082" y="0"/>
                </a:lnTo>
                <a:lnTo>
                  <a:pt x="8274082" y="1544098"/>
                </a:lnTo>
                <a:lnTo>
                  <a:pt x="0" y="15440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928754" y="6323714"/>
            <a:ext cx="3519202" cy="556450"/>
          </a:xfrm>
          <a:custGeom>
            <a:avLst/>
            <a:gdLst/>
            <a:ahLst/>
            <a:cxnLst/>
            <a:rect r="r" b="b" t="t" l="l"/>
            <a:pathLst>
              <a:path h="556450" w="3519202">
                <a:moveTo>
                  <a:pt x="0" y="0"/>
                </a:moveTo>
                <a:lnTo>
                  <a:pt x="3519202" y="0"/>
                </a:lnTo>
                <a:lnTo>
                  <a:pt x="3519202" y="556451"/>
                </a:lnTo>
                <a:lnTo>
                  <a:pt x="0" y="55645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950976" y="6345936"/>
            <a:ext cx="3474720" cy="512064"/>
            <a:chOff x="0" y="0"/>
            <a:chExt cx="4632960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632960" cy="682752"/>
            </a:xfrm>
            <a:custGeom>
              <a:avLst/>
              <a:gdLst/>
              <a:ahLst/>
              <a:cxnLst/>
              <a:rect r="r" b="b" t="t" l="l"/>
              <a:pathLst>
                <a:path h="68275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127" r="0" b="-82127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50976" y="6317361"/>
            <a:ext cx="3474720" cy="540639"/>
            <a:chOff x="0" y="0"/>
            <a:chExt cx="4632960" cy="7208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632960" cy="720852"/>
            </a:xfrm>
            <a:custGeom>
              <a:avLst/>
              <a:gdLst/>
              <a:ahLst/>
              <a:cxnLst/>
              <a:rect r="r" b="b" t="t" l="l"/>
              <a:pathLst>
                <a:path h="72085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5231" r="0" b="-7523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463296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FiltrarArriba()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87552" y="6931152"/>
            <a:ext cx="7717536" cy="548640"/>
            <a:chOff x="0" y="0"/>
            <a:chExt cx="10290048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290048" cy="731520"/>
            </a:xfrm>
            <a:custGeom>
              <a:avLst/>
              <a:gdLst/>
              <a:ahLst/>
              <a:cxnLst/>
              <a:rect r="r" b="b" t="t" l="l"/>
              <a:pathLst>
                <a:path h="731520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899" r="0" b="-223899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87552" y="6902577"/>
            <a:ext cx="7717536" cy="577215"/>
            <a:chOff x="0" y="0"/>
            <a:chExt cx="10290048" cy="7696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290048" cy="769620"/>
            </a:xfrm>
            <a:custGeom>
              <a:avLst/>
              <a:gdLst/>
              <a:ahLst/>
              <a:cxnLst/>
              <a:rect r="r" b="b" t="t" l="l"/>
              <a:pathLst>
                <a:path h="769620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0520" r="0" b="-21052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0290048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Sube un nodo mientras supere a su padre</a:t>
              </a: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709298" y="8024498"/>
            <a:ext cx="8274082" cy="1544098"/>
          </a:xfrm>
          <a:custGeom>
            <a:avLst/>
            <a:gdLst/>
            <a:ahLst/>
            <a:cxnLst/>
            <a:rect r="r" b="b" t="t" l="l"/>
            <a:pathLst>
              <a:path h="1544098" w="8274082">
                <a:moveTo>
                  <a:pt x="0" y="0"/>
                </a:moveTo>
                <a:lnTo>
                  <a:pt x="8274082" y="0"/>
                </a:lnTo>
                <a:lnTo>
                  <a:pt x="8274082" y="1544098"/>
                </a:lnTo>
                <a:lnTo>
                  <a:pt x="0" y="15440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928754" y="8243954"/>
            <a:ext cx="3519202" cy="556451"/>
          </a:xfrm>
          <a:custGeom>
            <a:avLst/>
            <a:gdLst/>
            <a:ahLst/>
            <a:cxnLst/>
            <a:rect r="r" b="b" t="t" l="l"/>
            <a:pathLst>
              <a:path h="556451" w="3519202">
                <a:moveTo>
                  <a:pt x="0" y="0"/>
                </a:moveTo>
                <a:lnTo>
                  <a:pt x="3519202" y="0"/>
                </a:lnTo>
                <a:lnTo>
                  <a:pt x="3519202" y="556451"/>
                </a:lnTo>
                <a:lnTo>
                  <a:pt x="0" y="55645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950976" y="8266176"/>
            <a:ext cx="3474720" cy="512064"/>
            <a:chOff x="0" y="0"/>
            <a:chExt cx="4632960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632960" cy="682752"/>
            </a:xfrm>
            <a:custGeom>
              <a:avLst/>
              <a:gdLst/>
              <a:ahLst/>
              <a:cxnLst/>
              <a:rect r="r" b="b" t="t" l="l"/>
              <a:pathLst>
                <a:path h="68275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127" r="0" b="-82127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50976" y="8237601"/>
            <a:ext cx="3474720" cy="540639"/>
            <a:chOff x="0" y="0"/>
            <a:chExt cx="4632960" cy="72085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632960" cy="720852"/>
            </a:xfrm>
            <a:custGeom>
              <a:avLst/>
              <a:gdLst/>
              <a:ahLst/>
              <a:cxnLst/>
              <a:rect r="r" b="b" t="t" l="l"/>
              <a:pathLst>
                <a:path h="72085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5231" r="0" b="-7523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463296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FiltrarAbajo()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87552" y="8851392"/>
            <a:ext cx="7717536" cy="548640"/>
            <a:chOff x="0" y="0"/>
            <a:chExt cx="10290048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290048" cy="731520"/>
            </a:xfrm>
            <a:custGeom>
              <a:avLst/>
              <a:gdLst/>
              <a:ahLst/>
              <a:cxnLst/>
              <a:rect r="r" b="b" t="t" l="l"/>
              <a:pathLst>
                <a:path h="731520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899" r="0" b="-223899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87552" y="8822817"/>
            <a:ext cx="7717536" cy="577215"/>
            <a:chOff x="0" y="0"/>
            <a:chExt cx="10290048" cy="7696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290048" cy="769620"/>
            </a:xfrm>
            <a:custGeom>
              <a:avLst/>
              <a:gdLst/>
              <a:ahLst/>
              <a:cxnLst/>
              <a:rect r="r" b="b" t="t" l="l"/>
              <a:pathLst>
                <a:path h="769620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0520" r="0" b="-21052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0290048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Baja un nodo hacia el hijo mayor</a:t>
              </a: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9487538" y="2263778"/>
            <a:ext cx="8274082" cy="1544098"/>
          </a:xfrm>
          <a:custGeom>
            <a:avLst/>
            <a:gdLst/>
            <a:ahLst/>
            <a:cxnLst/>
            <a:rect r="r" b="b" t="t" l="l"/>
            <a:pathLst>
              <a:path h="1544098" w="8274082">
                <a:moveTo>
                  <a:pt x="0" y="0"/>
                </a:moveTo>
                <a:lnTo>
                  <a:pt x="8274082" y="0"/>
                </a:lnTo>
                <a:lnTo>
                  <a:pt x="8274082" y="1544098"/>
                </a:lnTo>
                <a:lnTo>
                  <a:pt x="0" y="15440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9706994" y="2483234"/>
            <a:ext cx="3519202" cy="556450"/>
          </a:xfrm>
          <a:custGeom>
            <a:avLst/>
            <a:gdLst/>
            <a:ahLst/>
            <a:cxnLst/>
            <a:rect r="r" b="b" t="t" l="l"/>
            <a:pathLst>
              <a:path h="556450" w="3519202">
                <a:moveTo>
                  <a:pt x="0" y="0"/>
                </a:moveTo>
                <a:lnTo>
                  <a:pt x="3519202" y="0"/>
                </a:lnTo>
                <a:lnTo>
                  <a:pt x="3519202" y="556451"/>
                </a:lnTo>
                <a:lnTo>
                  <a:pt x="0" y="55645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9729216" y="2505456"/>
            <a:ext cx="3474720" cy="512064"/>
            <a:chOff x="0" y="0"/>
            <a:chExt cx="4632960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632960" cy="682752"/>
            </a:xfrm>
            <a:custGeom>
              <a:avLst/>
              <a:gdLst/>
              <a:ahLst/>
              <a:cxnLst/>
              <a:rect r="r" b="b" t="t" l="l"/>
              <a:pathLst>
                <a:path h="68275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127" r="0" b="-82127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729216" y="2476881"/>
            <a:ext cx="3474720" cy="540639"/>
            <a:chOff x="0" y="0"/>
            <a:chExt cx="4632960" cy="72085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632960" cy="720852"/>
            </a:xfrm>
            <a:custGeom>
              <a:avLst/>
              <a:gdLst/>
              <a:ahLst/>
              <a:cxnLst/>
              <a:rect r="r" b="b" t="t" l="l"/>
              <a:pathLst>
                <a:path h="72085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5231" r="0" b="-7523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463296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Consulta1()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765792" y="3090672"/>
            <a:ext cx="7717536" cy="548640"/>
            <a:chOff x="0" y="0"/>
            <a:chExt cx="10290048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290048" cy="731520"/>
            </a:xfrm>
            <a:custGeom>
              <a:avLst/>
              <a:gdLst/>
              <a:ahLst/>
              <a:cxnLst/>
              <a:rect r="r" b="b" t="t" l="l"/>
              <a:pathLst>
                <a:path h="731520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899" r="0" b="-223899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765792" y="3062097"/>
            <a:ext cx="7717536" cy="577215"/>
            <a:chOff x="0" y="0"/>
            <a:chExt cx="10290048" cy="7696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290048" cy="769620"/>
            </a:xfrm>
            <a:custGeom>
              <a:avLst/>
              <a:gdLst/>
              <a:ahLst/>
              <a:cxnLst/>
              <a:rect r="r" b="b" t="t" l="l"/>
              <a:pathLst>
                <a:path h="769620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0520" r="0" b="-21052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0290048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Compara tiempos de ejecución de ambos métodos</a:t>
              </a:r>
            </a:p>
          </p:txBody>
        </p:sp>
      </p:grpSp>
      <p:sp>
        <p:nvSpPr>
          <p:cNvPr name="Freeform 69" id="69"/>
          <p:cNvSpPr/>
          <p:nvPr/>
        </p:nvSpPr>
        <p:spPr>
          <a:xfrm flipH="false" flipV="false" rot="0">
            <a:off x="9487538" y="4184018"/>
            <a:ext cx="8274082" cy="1544098"/>
          </a:xfrm>
          <a:custGeom>
            <a:avLst/>
            <a:gdLst/>
            <a:ahLst/>
            <a:cxnLst/>
            <a:rect r="r" b="b" t="t" l="l"/>
            <a:pathLst>
              <a:path h="1544098" w="8274082">
                <a:moveTo>
                  <a:pt x="0" y="0"/>
                </a:moveTo>
                <a:lnTo>
                  <a:pt x="8274082" y="0"/>
                </a:lnTo>
                <a:lnTo>
                  <a:pt x="8274082" y="1544098"/>
                </a:lnTo>
                <a:lnTo>
                  <a:pt x="0" y="15440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9706994" y="4403474"/>
            <a:ext cx="3519202" cy="556450"/>
          </a:xfrm>
          <a:custGeom>
            <a:avLst/>
            <a:gdLst/>
            <a:ahLst/>
            <a:cxnLst/>
            <a:rect r="r" b="b" t="t" l="l"/>
            <a:pathLst>
              <a:path h="556450" w="3519202">
                <a:moveTo>
                  <a:pt x="0" y="0"/>
                </a:moveTo>
                <a:lnTo>
                  <a:pt x="3519202" y="0"/>
                </a:lnTo>
                <a:lnTo>
                  <a:pt x="3519202" y="556451"/>
                </a:lnTo>
                <a:lnTo>
                  <a:pt x="0" y="55645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1" id="71"/>
          <p:cNvGrpSpPr/>
          <p:nvPr/>
        </p:nvGrpSpPr>
        <p:grpSpPr>
          <a:xfrm rot="0">
            <a:off x="9729216" y="4425696"/>
            <a:ext cx="3474720" cy="512064"/>
            <a:chOff x="0" y="0"/>
            <a:chExt cx="4632960" cy="6827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632960" cy="682752"/>
            </a:xfrm>
            <a:custGeom>
              <a:avLst/>
              <a:gdLst/>
              <a:ahLst/>
              <a:cxnLst/>
              <a:rect r="r" b="b" t="t" l="l"/>
              <a:pathLst>
                <a:path h="68275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127" r="0" b="-82127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729216" y="4397121"/>
            <a:ext cx="3474720" cy="540639"/>
            <a:chOff x="0" y="0"/>
            <a:chExt cx="4632960" cy="72085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632960" cy="720852"/>
            </a:xfrm>
            <a:custGeom>
              <a:avLst/>
              <a:gdLst/>
              <a:ahLst/>
              <a:cxnLst/>
              <a:rect r="r" b="b" t="t" l="l"/>
              <a:pathLst>
                <a:path h="72085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5231" r="0" b="-7523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463296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Consulta2()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765792" y="5010912"/>
            <a:ext cx="7717536" cy="548640"/>
            <a:chOff x="0" y="0"/>
            <a:chExt cx="10290048" cy="7315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290048" cy="731520"/>
            </a:xfrm>
            <a:custGeom>
              <a:avLst/>
              <a:gdLst/>
              <a:ahLst/>
              <a:cxnLst/>
              <a:rect r="r" b="b" t="t" l="l"/>
              <a:pathLst>
                <a:path h="731520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899" r="0" b="-223899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765792" y="4982337"/>
            <a:ext cx="7717536" cy="577215"/>
            <a:chOff x="0" y="0"/>
            <a:chExt cx="10290048" cy="7696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290048" cy="769620"/>
            </a:xfrm>
            <a:custGeom>
              <a:avLst/>
              <a:gdLst/>
              <a:ahLst/>
              <a:cxnLst/>
              <a:rect r="r" b="b" t="t" l="l"/>
              <a:pathLst>
                <a:path h="769620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0520" r="0" b="-21052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0290048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Retorna el camino a la hoja más izquierda del Heap</a:t>
              </a:r>
            </a:p>
          </p:txBody>
        </p:sp>
      </p:grpSp>
      <p:sp>
        <p:nvSpPr>
          <p:cNvPr name="Freeform 81" id="81"/>
          <p:cNvSpPr/>
          <p:nvPr/>
        </p:nvSpPr>
        <p:spPr>
          <a:xfrm flipH="false" flipV="false" rot="0">
            <a:off x="9487538" y="6104258"/>
            <a:ext cx="8274082" cy="1544098"/>
          </a:xfrm>
          <a:custGeom>
            <a:avLst/>
            <a:gdLst/>
            <a:ahLst/>
            <a:cxnLst/>
            <a:rect r="r" b="b" t="t" l="l"/>
            <a:pathLst>
              <a:path h="1544098" w="8274082">
                <a:moveTo>
                  <a:pt x="0" y="0"/>
                </a:moveTo>
                <a:lnTo>
                  <a:pt x="8274082" y="0"/>
                </a:lnTo>
                <a:lnTo>
                  <a:pt x="8274082" y="1544098"/>
                </a:lnTo>
                <a:lnTo>
                  <a:pt x="0" y="15440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9706994" y="6323714"/>
            <a:ext cx="3519202" cy="556450"/>
          </a:xfrm>
          <a:custGeom>
            <a:avLst/>
            <a:gdLst/>
            <a:ahLst/>
            <a:cxnLst/>
            <a:rect r="r" b="b" t="t" l="l"/>
            <a:pathLst>
              <a:path h="556450" w="3519202">
                <a:moveTo>
                  <a:pt x="0" y="0"/>
                </a:moveTo>
                <a:lnTo>
                  <a:pt x="3519202" y="0"/>
                </a:lnTo>
                <a:lnTo>
                  <a:pt x="3519202" y="556451"/>
                </a:lnTo>
                <a:lnTo>
                  <a:pt x="0" y="55645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3" id="83"/>
          <p:cNvGrpSpPr/>
          <p:nvPr/>
        </p:nvGrpSpPr>
        <p:grpSpPr>
          <a:xfrm rot="0">
            <a:off x="9729216" y="6345936"/>
            <a:ext cx="3474720" cy="512064"/>
            <a:chOff x="0" y="0"/>
            <a:chExt cx="4632960" cy="682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632960" cy="682752"/>
            </a:xfrm>
            <a:custGeom>
              <a:avLst/>
              <a:gdLst/>
              <a:ahLst/>
              <a:cxnLst/>
              <a:rect r="r" b="b" t="t" l="l"/>
              <a:pathLst>
                <a:path h="68275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127" r="0" b="-82127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729216" y="6317361"/>
            <a:ext cx="3474720" cy="540639"/>
            <a:chOff x="0" y="0"/>
            <a:chExt cx="4632960" cy="72085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632960" cy="720852"/>
            </a:xfrm>
            <a:custGeom>
              <a:avLst/>
              <a:gdLst/>
              <a:ahLst/>
              <a:cxnLst/>
              <a:rect r="r" b="b" t="t" l="l"/>
              <a:pathLst>
                <a:path h="72085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5231" r="0" b="-7523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463296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Consulta3()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765792" y="6931152"/>
            <a:ext cx="7717536" cy="548640"/>
            <a:chOff x="0" y="0"/>
            <a:chExt cx="10290048" cy="7315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290048" cy="731520"/>
            </a:xfrm>
            <a:custGeom>
              <a:avLst/>
              <a:gdLst/>
              <a:ahLst/>
              <a:cxnLst/>
              <a:rect r="r" b="b" t="t" l="l"/>
              <a:pathLst>
                <a:path h="731520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899" r="0" b="-223899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9765792" y="6902577"/>
            <a:ext cx="7717536" cy="577215"/>
            <a:chOff x="0" y="0"/>
            <a:chExt cx="10290048" cy="76962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290048" cy="769620"/>
            </a:xfrm>
            <a:custGeom>
              <a:avLst/>
              <a:gdLst/>
              <a:ahLst/>
              <a:cxnLst/>
              <a:rect r="r" b="b" t="t" l="l"/>
              <a:pathLst>
                <a:path h="769620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0520" r="0" b="-21052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10290048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Muestra el Heap organizado por niveles</a:t>
              </a:r>
            </a:p>
          </p:txBody>
        </p:sp>
      </p:grpSp>
      <p:sp>
        <p:nvSpPr>
          <p:cNvPr name="Freeform 93" id="93"/>
          <p:cNvSpPr/>
          <p:nvPr/>
        </p:nvSpPr>
        <p:spPr>
          <a:xfrm flipH="false" flipV="false" rot="0">
            <a:off x="9487538" y="8024498"/>
            <a:ext cx="8274082" cy="1544098"/>
          </a:xfrm>
          <a:custGeom>
            <a:avLst/>
            <a:gdLst/>
            <a:ahLst/>
            <a:cxnLst/>
            <a:rect r="r" b="b" t="t" l="l"/>
            <a:pathLst>
              <a:path h="1544098" w="8274082">
                <a:moveTo>
                  <a:pt x="0" y="0"/>
                </a:moveTo>
                <a:lnTo>
                  <a:pt x="8274082" y="0"/>
                </a:lnTo>
                <a:lnTo>
                  <a:pt x="8274082" y="1544098"/>
                </a:lnTo>
                <a:lnTo>
                  <a:pt x="0" y="15440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9706994" y="8243954"/>
            <a:ext cx="3519202" cy="556451"/>
          </a:xfrm>
          <a:custGeom>
            <a:avLst/>
            <a:gdLst/>
            <a:ahLst/>
            <a:cxnLst/>
            <a:rect r="r" b="b" t="t" l="l"/>
            <a:pathLst>
              <a:path h="556451" w="3519202">
                <a:moveTo>
                  <a:pt x="0" y="0"/>
                </a:moveTo>
                <a:lnTo>
                  <a:pt x="3519202" y="0"/>
                </a:lnTo>
                <a:lnTo>
                  <a:pt x="3519202" y="556451"/>
                </a:lnTo>
                <a:lnTo>
                  <a:pt x="0" y="55645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5" id="95"/>
          <p:cNvGrpSpPr/>
          <p:nvPr/>
        </p:nvGrpSpPr>
        <p:grpSpPr>
          <a:xfrm rot="0">
            <a:off x="9729216" y="8266176"/>
            <a:ext cx="3474720" cy="512064"/>
            <a:chOff x="0" y="0"/>
            <a:chExt cx="4632960" cy="68275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632960" cy="682752"/>
            </a:xfrm>
            <a:custGeom>
              <a:avLst/>
              <a:gdLst/>
              <a:ahLst/>
              <a:cxnLst/>
              <a:rect r="r" b="b" t="t" l="l"/>
              <a:pathLst>
                <a:path h="68275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127" r="0" b="-82127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9729216" y="8237601"/>
            <a:ext cx="3474720" cy="540639"/>
            <a:chOff x="0" y="0"/>
            <a:chExt cx="4632960" cy="72085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632960" cy="720852"/>
            </a:xfrm>
            <a:custGeom>
              <a:avLst/>
              <a:gdLst/>
              <a:ahLst/>
              <a:cxnLst/>
              <a:rect r="r" b="b" t="t" l="l"/>
              <a:pathLst>
                <a:path h="72085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5231" r="0" b="-75231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463296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Ordenamiento()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765792" y="8851392"/>
            <a:ext cx="7717536" cy="548640"/>
            <a:chOff x="0" y="0"/>
            <a:chExt cx="10290048" cy="73152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0290048" cy="731520"/>
            </a:xfrm>
            <a:custGeom>
              <a:avLst/>
              <a:gdLst/>
              <a:ahLst/>
              <a:cxnLst/>
              <a:rect r="r" b="b" t="t" l="l"/>
              <a:pathLst>
                <a:path h="731520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899" r="0" b="-223899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9765792" y="8822817"/>
            <a:ext cx="7717536" cy="577215"/>
            <a:chOff x="0" y="0"/>
            <a:chExt cx="10290048" cy="76962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0290048" cy="769620"/>
            </a:xfrm>
            <a:custGeom>
              <a:avLst/>
              <a:gdLst/>
              <a:ahLst/>
              <a:cxnLst/>
              <a:rect r="r" b="b" t="t" l="l"/>
              <a:pathLst>
                <a:path h="769620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0520" r="0" b="-21052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10290048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Selección descendente sobre List&lt;Dato&gt;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18332482" cy="2056162"/>
            <a:chOff x="0" y="0"/>
            <a:chExt cx="24443309" cy="27415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3310" cy="2741549"/>
            </a:xfrm>
            <a:custGeom>
              <a:avLst/>
              <a:gdLst/>
              <a:ahLst/>
              <a:cxnLst/>
              <a:rect r="r" b="b" t="t" l="l"/>
              <a:pathLst>
                <a:path h="2741549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2741549"/>
                  </a:lnTo>
                  <a:lnTo>
                    <a:pt x="0" y="2741549"/>
                  </a:lnTo>
                  <a:close/>
                </a:path>
              </a:pathLst>
            </a:custGeom>
            <a:solidFill>
              <a:srgbClr val="1E2761"/>
            </a:solidFill>
            <a:ln w="25400" cap="sq">
              <a:solidFill>
                <a:srgbClr val="1E276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6459200" cy="2011680"/>
            <a:chOff x="0" y="0"/>
            <a:chExt cx="21945600" cy="26822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312" r="0" b="-10931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-7144"/>
            <a:ext cx="16459200" cy="2018824"/>
            <a:chOff x="0" y="0"/>
            <a:chExt cx="21945600" cy="26917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2691765"/>
            </a:xfrm>
            <a:custGeom>
              <a:avLst/>
              <a:gdLst/>
              <a:ahLst/>
              <a:cxnLst/>
              <a:rect r="r" b="b" t="t" l="l"/>
              <a:pathLst>
                <a:path h="26917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91765"/>
                  </a:lnTo>
                  <a:lnTo>
                    <a:pt x="0" y="26917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858" r="0" b="-10885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945600" cy="2701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8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Comparación de Algoritmos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17858" y="2172338"/>
            <a:ext cx="8091202" cy="7542562"/>
          </a:xfrm>
          <a:custGeom>
            <a:avLst/>
            <a:gdLst/>
            <a:ahLst/>
            <a:cxnLst/>
            <a:rect r="r" b="b" t="t" l="l"/>
            <a:pathLst>
              <a:path h="7542562" w="8091202">
                <a:moveTo>
                  <a:pt x="0" y="0"/>
                </a:moveTo>
                <a:lnTo>
                  <a:pt x="8091202" y="0"/>
                </a:lnTo>
                <a:lnTo>
                  <a:pt x="8091202" y="7542562"/>
                </a:lnTo>
                <a:lnTo>
                  <a:pt x="0" y="75425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14400" y="2377440"/>
            <a:ext cx="7498080" cy="822960"/>
            <a:chOff x="0" y="0"/>
            <a:chExt cx="999744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97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07" r="0" b="-127406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2341721"/>
            <a:ext cx="7498080" cy="858679"/>
            <a:chOff x="0" y="0"/>
            <a:chExt cx="9997440" cy="11449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997440" cy="1144905"/>
            </a:xfrm>
            <a:custGeom>
              <a:avLst/>
              <a:gdLst/>
              <a:ahLst/>
              <a:cxnLst/>
              <a:rect r="r" b="b" t="t" l="l"/>
              <a:pathLst>
                <a:path h="1144905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145" r="0" b="-12014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9997440" cy="1211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1A56B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🔷  BuscarConHeap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05840" y="3383280"/>
            <a:ext cx="7315200" cy="914400"/>
            <a:chOff x="0" y="0"/>
            <a:chExt cx="9753600" cy="1219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75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771" r="0" b="-105771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05840" y="3347561"/>
            <a:ext cx="7315200" cy="950119"/>
            <a:chOff x="0" y="0"/>
            <a:chExt cx="9753600" cy="12668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0" cy="1266825"/>
            </a:xfrm>
            <a:custGeom>
              <a:avLst/>
              <a:gdLst/>
              <a:ahLst/>
              <a:cxnLst/>
              <a:rect r="r" b="b" t="t" l="l"/>
              <a:pathLst>
                <a:path h="1266825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66825"/>
                  </a:lnTo>
                  <a:lnTo>
                    <a:pt x="0" y="12668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020" r="0" b="-10002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75360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Contar ocurrencias con Dictionary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5840" y="4480560"/>
            <a:ext cx="7315200" cy="914400"/>
            <a:chOff x="0" y="0"/>
            <a:chExt cx="9753600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5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771" r="0" b="-105771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05840" y="4444841"/>
            <a:ext cx="7315200" cy="950119"/>
            <a:chOff x="0" y="0"/>
            <a:chExt cx="9753600" cy="126682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753600" cy="1266825"/>
            </a:xfrm>
            <a:custGeom>
              <a:avLst/>
              <a:gdLst/>
              <a:ahLst/>
              <a:cxnLst/>
              <a:rect r="r" b="b" t="t" l="l"/>
              <a:pathLst>
                <a:path h="1266825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66825"/>
                  </a:lnTo>
                  <a:lnTo>
                    <a:pt x="0" y="12668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020" r="0" b="-10002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975360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Construir Max-Heap con FiltrarArriba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05840" y="5577840"/>
            <a:ext cx="7315200" cy="914400"/>
            <a:chOff x="0" y="0"/>
            <a:chExt cx="9753600" cy="1219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5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771" r="0" b="-105771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05840" y="5542121"/>
            <a:ext cx="7315200" cy="950119"/>
            <a:chOff x="0" y="0"/>
            <a:chExt cx="9753600" cy="126682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753600" cy="1266825"/>
            </a:xfrm>
            <a:custGeom>
              <a:avLst/>
              <a:gdLst/>
              <a:ahLst/>
              <a:cxnLst/>
              <a:rect r="r" b="b" t="t" l="l"/>
              <a:pathLst>
                <a:path h="1266825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66825"/>
                  </a:lnTo>
                  <a:lnTo>
                    <a:pt x="0" y="12668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020" r="0" b="-10002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975360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Extraer raíz N veces con FiltrarAbajo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05840" y="6675120"/>
            <a:ext cx="7315200" cy="914400"/>
            <a:chOff x="0" y="0"/>
            <a:chExt cx="975360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75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771" r="0" b="-105771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05840" y="6639401"/>
            <a:ext cx="7315200" cy="950119"/>
            <a:chOff x="0" y="0"/>
            <a:chExt cx="9753600" cy="126682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753600" cy="1266825"/>
            </a:xfrm>
            <a:custGeom>
              <a:avLst/>
              <a:gdLst/>
              <a:ahLst/>
              <a:cxnLst/>
              <a:rect r="r" b="b" t="t" l="l"/>
              <a:pathLst>
                <a:path h="1266825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66825"/>
                  </a:lnTo>
                  <a:lnTo>
                    <a:pt x="0" y="12668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020" r="0" b="-10002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75360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Complejidad: O(n log n)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05840" y="7772400"/>
            <a:ext cx="7315200" cy="914400"/>
            <a:chOff x="0" y="0"/>
            <a:chExt cx="9753600" cy="1219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5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771" r="0" b="-105771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05840" y="7736681"/>
            <a:ext cx="7315200" cy="950119"/>
            <a:chOff x="0" y="0"/>
            <a:chExt cx="9753600" cy="126682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753600" cy="1266825"/>
            </a:xfrm>
            <a:custGeom>
              <a:avLst/>
              <a:gdLst/>
              <a:ahLst/>
              <a:cxnLst/>
              <a:rect r="r" b="b" t="t" l="l"/>
              <a:pathLst>
                <a:path h="1266825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66825"/>
                  </a:lnTo>
                  <a:lnTo>
                    <a:pt x="0" y="12668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020" r="0" b="-10002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975360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Eficiente para datasets grandes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8298818" y="5098418"/>
            <a:ext cx="1690307" cy="1690306"/>
          </a:xfrm>
          <a:custGeom>
            <a:avLst/>
            <a:gdLst/>
            <a:ahLst/>
            <a:cxnLst/>
            <a:rect r="r" b="b" t="t" l="l"/>
            <a:pathLst>
              <a:path h="1690306" w="1690307">
                <a:moveTo>
                  <a:pt x="0" y="0"/>
                </a:moveTo>
                <a:lnTo>
                  <a:pt x="1690307" y="0"/>
                </a:lnTo>
                <a:lnTo>
                  <a:pt x="1690307" y="1690307"/>
                </a:lnTo>
                <a:lnTo>
                  <a:pt x="0" y="16903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8321040" y="5120640"/>
            <a:ext cx="1645920" cy="1645920"/>
            <a:chOff x="0" y="0"/>
            <a:chExt cx="2194560" cy="21945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321040" y="5084921"/>
            <a:ext cx="1645920" cy="1681639"/>
            <a:chOff x="0" y="0"/>
            <a:chExt cx="2194560" cy="224218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94560" cy="2242185"/>
            </a:xfrm>
            <a:custGeom>
              <a:avLst/>
              <a:gdLst/>
              <a:ahLst/>
              <a:cxnLst/>
              <a:rect r="r" b="b" t="t" l="l"/>
              <a:pathLst>
                <a:path h="2242185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242185"/>
                  </a:lnTo>
                  <a:lnTo>
                    <a:pt x="0" y="22421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1087" t="0" r="-81087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2194560" cy="2308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8"/>
                </a:lnSpc>
              </a:pPr>
              <a:r>
                <a:rPr lang="en-US" sz="2799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VS</a:t>
              </a: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9578978" y="2172338"/>
            <a:ext cx="8091202" cy="7542562"/>
          </a:xfrm>
          <a:custGeom>
            <a:avLst/>
            <a:gdLst/>
            <a:ahLst/>
            <a:cxnLst/>
            <a:rect r="r" b="b" t="t" l="l"/>
            <a:pathLst>
              <a:path h="7542562" w="8091202">
                <a:moveTo>
                  <a:pt x="0" y="0"/>
                </a:moveTo>
                <a:lnTo>
                  <a:pt x="8091202" y="0"/>
                </a:lnTo>
                <a:lnTo>
                  <a:pt x="8091202" y="7542562"/>
                </a:lnTo>
                <a:lnTo>
                  <a:pt x="0" y="7542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9875520" y="2377440"/>
            <a:ext cx="7498080" cy="822960"/>
            <a:chOff x="0" y="0"/>
            <a:chExt cx="9997440" cy="10972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997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07" r="0" b="-127406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875520" y="2341721"/>
            <a:ext cx="7498080" cy="858679"/>
            <a:chOff x="0" y="0"/>
            <a:chExt cx="9997440" cy="114490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997440" cy="1144905"/>
            </a:xfrm>
            <a:custGeom>
              <a:avLst/>
              <a:gdLst/>
              <a:ahLst/>
              <a:cxnLst/>
              <a:rect r="r" b="b" t="t" l="l"/>
              <a:pathLst>
                <a:path h="1144905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145" r="0" b="-12014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9997440" cy="1211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065F4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🔶  BuscarConOtro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875520" y="3383280"/>
            <a:ext cx="7315200" cy="914400"/>
            <a:chOff x="0" y="0"/>
            <a:chExt cx="9753600" cy="12192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75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771" r="0" b="-105771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875520" y="3347561"/>
            <a:ext cx="7315200" cy="950119"/>
            <a:chOff x="0" y="0"/>
            <a:chExt cx="9753600" cy="126682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753600" cy="1266825"/>
            </a:xfrm>
            <a:custGeom>
              <a:avLst/>
              <a:gdLst/>
              <a:ahLst/>
              <a:cxnLst/>
              <a:rect r="r" b="b" t="t" l="l"/>
              <a:pathLst>
                <a:path h="1266825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66825"/>
                  </a:lnTo>
                  <a:lnTo>
                    <a:pt x="0" y="12668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020" r="0" b="-10002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975360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Contar ocurrencias con Dictionary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875520" y="4480560"/>
            <a:ext cx="7315200" cy="914400"/>
            <a:chOff x="0" y="0"/>
            <a:chExt cx="9753600" cy="12192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75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771" r="0" b="-105771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875520" y="4444841"/>
            <a:ext cx="7315200" cy="950119"/>
            <a:chOff x="0" y="0"/>
            <a:chExt cx="9753600" cy="126682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753600" cy="1266825"/>
            </a:xfrm>
            <a:custGeom>
              <a:avLst/>
              <a:gdLst/>
              <a:ahLst/>
              <a:cxnLst/>
              <a:rect r="r" b="b" t="t" l="l"/>
              <a:pathLst>
                <a:path h="1266825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66825"/>
                  </a:lnTo>
                  <a:lnTo>
                    <a:pt x="0" y="12668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020" r="0" b="-10002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975360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Crear List&lt;Dato&gt; con todos los pares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875520" y="5577840"/>
            <a:ext cx="7315200" cy="914400"/>
            <a:chOff x="0" y="0"/>
            <a:chExt cx="9753600" cy="1219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75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771" r="0" b="-105771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875520" y="5542121"/>
            <a:ext cx="7315200" cy="950119"/>
            <a:chOff x="0" y="0"/>
            <a:chExt cx="9753600" cy="126682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753600" cy="1266825"/>
            </a:xfrm>
            <a:custGeom>
              <a:avLst/>
              <a:gdLst/>
              <a:ahLst/>
              <a:cxnLst/>
              <a:rect r="r" b="b" t="t" l="l"/>
              <a:pathLst>
                <a:path h="1266825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66825"/>
                  </a:lnTo>
                  <a:lnTo>
                    <a:pt x="0" y="12668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020" r="0" b="-10002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975360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Ordenar por selección descendente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875520" y="6675120"/>
            <a:ext cx="7315200" cy="914400"/>
            <a:chOff x="0" y="0"/>
            <a:chExt cx="9753600" cy="12192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75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771" r="0" b="-105771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875520" y="6639401"/>
            <a:ext cx="7315200" cy="950119"/>
            <a:chOff x="0" y="0"/>
            <a:chExt cx="9753600" cy="126682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753600" cy="1266825"/>
            </a:xfrm>
            <a:custGeom>
              <a:avLst/>
              <a:gdLst/>
              <a:ahLst/>
              <a:cxnLst/>
              <a:rect r="r" b="b" t="t" l="l"/>
              <a:pathLst>
                <a:path h="1266825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66825"/>
                  </a:lnTo>
                  <a:lnTo>
                    <a:pt x="0" y="12668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020" r="0" b="-10002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975360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Tomar los primeros N elementos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875520" y="7772400"/>
            <a:ext cx="7315200" cy="914400"/>
            <a:chOff x="0" y="0"/>
            <a:chExt cx="9753600" cy="12192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75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771" r="0" b="-105771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875520" y="7736681"/>
            <a:ext cx="7315200" cy="950119"/>
            <a:chOff x="0" y="0"/>
            <a:chExt cx="9753600" cy="126682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753600" cy="1266825"/>
            </a:xfrm>
            <a:custGeom>
              <a:avLst/>
              <a:gdLst/>
              <a:ahLst/>
              <a:cxnLst/>
              <a:rect r="r" b="b" t="t" l="l"/>
              <a:pathLst>
                <a:path h="1266825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66825"/>
                  </a:lnTo>
                  <a:lnTo>
                    <a:pt x="0" y="12668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020" r="0" b="-10002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975360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Complejidad: O(n²)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18332482" cy="2056162"/>
            <a:chOff x="0" y="0"/>
            <a:chExt cx="24443309" cy="27415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3310" cy="2741549"/>
            </a:xfrm>
            <a:custGeom>
              <a:avLst/>
              <a:gdLst/>
              <a:ahLst/>
              <a:cxnLst/>
              <a:rect r="r" b="b" t="t" l="l"/>
              <a:pathLst>
                <a:path h="2741549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2741549"/>
                  </a:lnTo>
                  <a:lnTo>
                    <a:pt x="0" y="2741549"/>
                  </a:lnTo>
                  <a:close/>
                </a:path>
              </a:pathLst>
            </a:custGeom>
            <a:solidFill>
              <a:srgbClr val="0F1B4C"/>
            </a:solidFill>
            <a:ln w="25400" cap="sq">
              <a:solidFill>
                <a:srgbClr val="0F1B4C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6459200" cy="2011680"/>
            <a:chOff x="0" y="0"/>
            <a:chExt cx="21945600" cy="26822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312" r="0" b="-10931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-7144"/>
            <a:ext cx="16459200" cy="2018824"/>
            <a:chOff x="0" y="0"/>
            <a:chExt cx="21945600" cy="26917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2691765"/>
            </a:xfrm>
            <a:custGeom>
              <a:avLst/>
              <a:gdLst/>
              <a:ahLst/>
              <a:cxnLst/>
              <a:rect r="r" b="b" t="t" l="l"/>
              <a:pathLst>
                <a:path h="26917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91765"/>
                  </a:lnTo>
                  <a:lnTo>
                    <a:pt x="0" y="26917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858" r="0" b="-10885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945600" cy="2701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8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Consultas del Sistema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17858" y="2263778"/>
            <a:ext cx="17052322" cy="2385346"/>
          </a:xfrm>
          <a:custGeom>
            <a:avLst/>
            <a:gdLst/>
            <a:ahLst/>
            <a:cxnLst/>
            <a:rect r="r" b="b" t="t" l="l"/>
            <a:pathLst>
              <a:path h="2385346" w="17052322">
                <a:moveTo>
                  <a:pt x="0" y="0"/>
                </a:moveTo>
                <a:lnTo>
                  <a:pt x="17052322" y="0"/>
                </a:lnTo>
                <a:lnTo>
                  <a:pt x="17052322" y="2385346"/>
                </a:lnTo>
                <a:lnTo>
                  <a:pt x="0" y="2385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92178" y="2812418"/>
            <a:ext cx="1233106" cy="1233107"/>
          </a:xfrm>
          <a:custGeom>
            <a:avLst/>
            <a:gdLst/>
            <a:ahLst/>
            <a:cxnLst/>
            <a:rect r="r" b="b" t="t" l="l"/>
            <a:pathLst>
              <a:path h="1233107" w="1233106">
                <a:moveTo>
                  <a:pt x="0" y="0"/>
                </a:moveTo>
                <a:lnTo>
                  <a:pt x="1233107" y="0"/>
                </a:lnTo>
                <a:lnTo>
                  <a:pt x="1233107" y="1233107"/>
                </a:lnTo>
                <a:lnTo>
                  <a:pt x="0" y="12331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14400" y="2834640"/>
            <a:ext cx="1188720" cy="1188720"/>
            <a:chOff x="0" y="0"/>
            <a:chExt cx="1584960" cy="1584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t="0" r="-78393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2806065"/>
            <a:ext cx="1188720" cy="1217295"/>
            <a:chOff x="0" y="0"/>
            <a:chExt cx="1584960" cy="16230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84960" cy="1623060"/>
            </a:xfrm>
            <a:custGeom>
              <a:avLst/>
              <a:gdLst/>
              <a:ahLst/>
              <a:cxnLst/>
              <a:rect r="r" b="b" t="t" l="l"/>
              <a:pathLst>
                <a:path h="16230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623060"/>
                  </a:lnTo>
                  <a:lnTo>
                    <a:pt x="0" y="16230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1387" t="0" r="-81387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58496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377440" y="2432304"/>
            <a:ext cx="14447520" cy="585216"/>
            <a:chOff x="0" y="0"/>
            <a:chExt cx="19263360" cy="7802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263361" cy="780288"/>
            </a:xfrm>
            <a:custGeom>
              <a:avLst/>
              <a:gdLst/>
              <a:ahLst/>
              <a:cxnLst/>
              <a:rect r="r" b="b" t="t" l="l"/>
              <a:pathLst>
                <a:path h="780288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703" r="0" b="-43070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377440" y="2389442"/>
            <a:ext cx="14447520" cy="628078"/>
            <a:chOff x="0" y="0"/>
            <a:chExt cx="19263360" cy="83743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263361" cy="837438"/>
            </a:xfrm>
            <a:custGeom>
              <a:avLst/>
              <a:gdLst/>
              <a:ahLst/>
              <a:cxnLst/>
              <a:rect r="r" b="b" t="t" l="l"/>
              <a:pathLst>
                <a:path h="837438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837438"/>
                  </a:lnTo>
                  <a:lnTo>
                    <a:pt x="0" y="837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209" r="0" b="-39820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9263360" cy="894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BE12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Consulta1 – Comparación de Tiempos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377440" y="3054096"/>
            <a:ext cx="14447520" cy="1371600"/>
            <a:chOff x="0" y="0"/>
            <a:chExt cx="19263360" cy="1828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263361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100" r="0" b="-155099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377440" y="3025521"/>
            <a:ext cx="14447520" cy="1400175"/>
            <a:chOff x="0" y="0"/>
            <a:chExt cx="19263360" cy="18669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263361" cy="1866900"/>
            </a:xfrm>
            <a:custGeom>
              <a:avLst/>
              <a:gdLst/>
              <a:ahLst/>
              <a:cxnLst/>
              <a:rect r="r" b="b" t="t" l="l"/>
              <a:pathLst>
                <a:path h="186690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1866900"/>
                  </a:lnTo>
                  <a:lnTo>
                    <a:pt x="0" y="1866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1053" r="0" b="-15105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926336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Ejecuta BuscarConHeap y BuscarConOtro cronometrados   • Retorna string: "Heap: X ms  |  Ordenamiento: Y ms"   • Permite comparar rendimiento en tiempo real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617858" y="4860674"/>
            <a:ext cx="17052322" cy="2385346"/>
          </a:xfrm>
          <a:custGeom>
            <a:avLst/>
            <a:gdLst/>
            <a:ahLst/>
            <a:cxnLst/>
            <a:rect r="r" b="b" t="t" l="l"/>
            <a:pathLst>
              <a:path h="2385346" w="17052322">
                <a:moveTo>
                  <a:pt x="0" y="0"/>
                </a:moveTo>
                <a:lnTo>
                  <a:pt x="17052322" y="0"/>
                </a:lnTo>
                <a:lnTo>
                  <a:pt x="17052322" y="2385346"/>
                </a:lnTo>
                <a:lnTo>
                  <a:pt x="0" y="2385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92178" y="5409314"/>
            <a:ext cx="1233106" cy="1233107"/>
          </a:xfrm>
          <a:custGeom>
            <a:avLst/>
            <a:gdLst/>
            <a:ahLst/>
            <a:cxnLst/>
            <a:rect r="r" b="b" t="t" l="l"/>
            <a:pathLst>
              <a:path h="1233107" w="1233106">
                <a:moveTo>
                  <a:pt x="0" y="0"/>
                </a:moveTo>
                <a:lnTo>
                  <a:pt x="1233107" y="0"/>
                </a:lnTo>
                <a:lnTo>
                  <a:pt x="1233107" y="1233107"/>
                </a:lnTo>
                <a:lnTo>
                  <a:pt x="0" y="123310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914400" y="5431536"/>
            <a:ext cx="1188720" cy="1188720"/>
            <a:chOff x="0" y="0"/>
            <a:chExt cx="1584960" cy="15849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t="0" r="-78393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14400" y="5402961"/>
            <a:ext cx="1188720" cy="1217295"/>
            <a:chOff x="0" y="0"/>
            <a:chExt cx="1584960" cy="16230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84960" cy="1623060"/>
            </a:xfrm>
            <a:custGeom>
              <a:avLst/>
              <a:gdLst/>
              <a:ahLst/>
              <a:cxnLst/>
              <a:rect r="r" b="b" t="t" l="l"/>
              <a:pathLst>
                <a:path h="16230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623060"/>
                  </a:lnTo>
                  <a:lnTo>
                    <a:pt x="0" y="16230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1387" t="0" r="-81387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58496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377440" y="5029200"/>
            <a:ext cx="14447520" cy="585216"/>
            <a:chOff x="0" y="0"/>
            <a:chExt cx="19263360" cy="78028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263361" cy="780288"/>
            </a:xfrm>
            <a:custGeom>
              <a:avLst/>
              <a:gdLst/>
              <a:ahLst/>
              <a:cxnLst/>
              <a:rect r="r" b="b" t="t" l="l"/>
              <a:pathLst>
                <a:path h="780288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703" r="0" b="-430701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377440" y="4986338"/>
            <a:ext cx="14447520" cy="628078"/>
            <a:chOff x="0" y="0"/>
            <a:chExt cx="19263360" cy="83743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263361" cy="837438"/>
            </a:xfrm>
            <a:custGeom>
              <a:avLst/>
              <a:gdLst/>
              <a:ahLst/>
              <a:cxnLst/>
              <a:rect r="r" b="b" t="t" l="l"/>
              <a:pathLst>
                <a:path h="837438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837438"/>
                  </a:lnTo>
                  <a:lnTo>
                    <a:pt x="0" y="837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209" r="0" b="-39820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9263360" cy="894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369A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Consulta2 – Camino a la Hoja Izquierda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377440" y="5650992"/>
            <a:ext cx="14447520" cy="1371600"/>
            <a:chOff x="0" y="0"/>
            <a:chExt cx="19263360" cy="1828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263361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100" r="0" b="-155099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2377440" y="5622417"/>
            <a:ext cx="14447520" cy="1400175"/>
            <a:chOff x="0" y="0"/>
            <a:chExt cx="19263360" cy="18669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263361" cy="1866900"/>
            </a:xfrm>
            <a:custGeom>
              <a:avLst/>
              <a:gdLst/>
              <a:ahLst/>
              <a:cxnLst/>
              <a:rect r="r" b="b" t="t" l="l"/>
              <a:pathLst>
                <a:path h="186690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1866900"/>
                  </a:lnTo>
                  <a:lnTo>
                    <a:pt x="0" y="1866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1053" r="0" b="-15105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926336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Construye el Heap y recorre siempre el hijo izquierdo   • Acumula los nodos visitados en un string   • Visualiza la rama más profunda a la izquierda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617858" y="7457570"/>
            <a:ext cx="17052322" cy="2385346"/>
          </a:xfrm>
          <a:custGeom>
            <a:avLst/>
            <a:gdLst/>
            <a:ahLst/>
            <a:cxnLst/>
            <a:rect r="r" b="b" t="t" l="l"/>
            <a:pathLst>
              <a:path h="2385346" w="17052322">
                <a:moveTo>
                  <a:pt x="0" y="0"/>
                </a:moveTo>
                <a:lnTo>
                  <a:pt x="17052322" y="0"/>
                </a:lnTo>
                <a:lnTo>
                  <a:pt x="17052322" y="2385346"/>
                </a:lnTo>
                <a:lnTo>
                  <a:pt x="0" y="2385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892178" y="8006210"/>
            <a:ext cx="1233106" cy="1233107"/>
          </a:xfrm>
          <a:custGeom>
            <a:avLst/>
            <a:gdLst/>
            <a:ahLst/>
            <a:cxnLst/>
            <a:rect r="r" b="b" t="t" l="l"/>
            <a:pathLst>
              <a:path h="1233107" w="1233106">
                <a:moveTo>
                  <a:pt x="0" y="0"/>
                </a:moveTo>
                <a:lnTo>
                  <a:pt x="1233107" y="0"/>
                </a:lnTo>
                <a:lnTo>
                  <a:pt x="1233107" y="1233107"/>
                </a:lnTo>
                <a:lnTo>
                  <a:pt x="0" y="123310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914400" y="8028432"/>
            <a:ext cx="1188720" cy="1188720"/>
            <a:chOff x="0" y="0"/>
            <a:chExt cx="1584960" cy="15849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t="0" r="-78393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14400" y="7999857"/>
            <a:ext cx="1188720" cy="1217295"/>
            <a:chOff x="0" y="0"/>
            <a:chExt cx="1584960" cy="16230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584960" cy="1623060"/>
            </a:xfrm>
            <a:custGeom>
              <a:avLst/>
              <a:gdLst/>
              <a:ahLst/>
              <a:cxnLst/>
              <a:rect r="r" b="b" t="t" l="l"/>
              <a:pathLst>
                <a:path h="16230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623060"/>
                  </a:lnTo>
                  <a:lnTo>
                    <a:pt x="0" y="16230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1387" t="0" r="-81387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58496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377440" y="7626096"/>
            <a:ext cx="14447520" cy="585216"/>
            <a:chOff x="0" y="0"/>
            <a:chExt cx="19263360" cy="78028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9263361" cy="780288"/>
            </a:xfrm>
            <a:custGeom>
              <a:avLst/>
              <a:gdLst/>
              <a:ahLst/>
              <a:cxnLst/>
              <a:rect r="r" b="b" t="t" l="l"/>
              <a:pathLst>
                <a:path h="780288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703" r="0" b="-43070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2377440" y="7583234"/>
            <a:ext cx="14447520" cy="628078"/>
            <a:chOff x="0" y="0"/>
            <a:chExt cx="19263360" cy="83743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263361" cy="837438"/>
            </a:xfrm>
            <a:custGeom>
              <a:avLst/>
              <a:gdLst/>
              <a:ahLst/>
              <a:cxnLst/>
              <a:rect r="r" b="b" t="t" l="l"/>
              <a:pathLst>
                <a:path h="837438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837438"/>
                  </a:lnTo>
                  <a:lnTo>
                    <a:pt x="0" y="837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209" r="0" b="-39820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19263360" cy="894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65F4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Consulta3 – Niveles del Heap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2377440" y="8247888"/>
            <a:ext cx="14447520" cy="1371600"/>
            <a:chOff x="0" y="0"/>
            <a:chExt cx="19263360" cy="1828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9263361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100" r="0" b="-155099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2377440" y="8219313"/>
            <a:ext cx="14447520" cy="1400175"/>
            <a:chOff x="0" y="0"/>
            <a:chExt cx="19263360" cy="18669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9263361" cy="1866900"/>
            </a:xfrm>
            <a:custGeom>
              <a:avLst/>
              <a:gdLst/>
              <a:ahLst/>
              <a:cxnLst/>
              <a:rect r="r" b="b" t="t" l="l"/>
              <a:pathLst>
                <a:path h="186690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1866900"/>
                  </a:lnTo>
                  <a:lnTo>
                    <a:pt x="0" y="1866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1053" r="0" b="-15105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926336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Recorre el arreglo heap de izquierda a derecha   • Detecta cambio de nivel cuando contador == capActual   • Retorna cada nodo etiquetado con su nivel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18332482" cy="2056162"/>
            <a:chOff x="0" y="0"/>
            <a:chExt cx="24443309" cy="27415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3310" cy="2741549"/>
            </a:xfrm>
            <a:custGeom>
              <a:avLst/>
              <a:gdLst/>
              <a:ahLst/>
              <a:cxnLst/>
              <a:rect r="r" b="b" t="t" l="l"/>
              <a:pathLst>
                <a:path h="2741549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2741549"/>
                  </a:lnTo>
                  <a:lnTo>
                    <a:pt x="0" y="2741549"/>
                  </a:lnTo>
                  <a:close/>
                </a:path>
              </a:pathLst>
            </a:custGeom>
            <a:solidFill>
              <a:srgbClr val="1E2761"/>
            </a:solidFill>
            <a:ln w="25400" cap="sq">
              <a:solidFill>
                <a:srgbClr val="1E276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6459200" cy="2011680"/>
            <a:chOff x="0" y="0"/>
            <a:chExt cx="21945600" cy="26822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312" r="0" b="-10931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-7144"/>
            <a:ext cx="16459200" cy="2018824"/>
            <a:chOff x="0" y="0"/>
            <a:chExt cx="21945600" cy="26917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2691765"/>
            </a:xfrm>
            <a:custGeom>
              <a:avLst/>
              <a:gdLst/>
              <a:ahLst/>
              <a:cxnLst/>
              <a:rect r="r" b="b" t="t" l="l"/>
              <a:pathLst>
                <a:path h="26917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91765"/>
                  </a:lnTo>
                  <a:lnTo>
                    <a:pt x="0" y="26917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858" r="0" b="-10885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945600" cy="2701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8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Estructura del Max-Heap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572166" y="7958518"/>
            <a:ext cx="66675" cy="1602867"/>
            <a:chOff x="0" y="0"/>
            <a:chExt cx="88900" cy="21371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8900" cy="2137156"/>
            </a:xfrm>
            <a:custGeom>
              <a:avLst/>
              <a:gdLst/>
              <a:ahLst/>
              <a:cxnLst/>
              <a:rect r="r" b="b" t="t" l="l"/>
              <a:pathLst>
                <a:path h="2137156" w="88900">
                  <a:moveTo>
                    <a:pt x="0" y="0"/>
                  </a:moveTo>
                  <a:lnTo>
                    <a:pt x="88900" y="2137156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036557" t="0" r="-3036571" b="0"/>
              </a:stretch>
            </a:blipFill>
            <a:ln w="38100" cap="sq">
              <a:solidFill>
                <a:srgbClr val="64748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987649" y="2906039"/>
            <a:ext cx="6982882" cy="6641059"/>
            <a:chOff x="0" y="0"/>
            <a:chExt cx="9310510" cy="88547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10497" cy="8854694"/>
            </a:xfrm>
            <a:custGeom>
              <a:avLst/>
              <a:gdLst/>
              <a:ahLst/>
              <a:cxnLst/>
              <a:rect r="r" b="b" t="t" l="l"/>
              <a:pathLst>
                <a:path h="8854694" w="9310497">
                  <a:moveTo>
                    <a:pt x="0" y="0"/>
                  </a:moveTo>
                  <a:lnTo>
                    <a:pt x="9310497" y="0"/>
                  </a:lnTo>
                  <a:lnTo>
                    <a:pt x="9310497" y="8854694"/>
                  </a:lnTo>
                  <a:lnTo>
                    <a:pt x="0" y="8854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2840" t="-3623" r="-33623" b="-4131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377876" y="2896514"/>
            <a:ext cx="10077793" cy="1480080"/>
          </a:xfrm>
          <a:custGeom>
            <a:avLst/>
            <a:gdLst/>
            <a:ahLst/>
            <a:cxnLst/>
            <a:rect r="r" b="b" t="t" l="l"/>
            <a:pathLst>
              <a:path h="1480080" w="10077793">
                <a:moveTo>
                  <a:pt x="0" y="0"/>
                </a:moveTo>
                <a:lnTo>
                  <a:pt x="10077793" y="0"/>
                </a:lnTo>
                <a:lnTo>
                  <a:pt x="10077793" y="1480081"/>
                </a:lnTo>
                <a:lnTo>
                  <a:pt x="0" y="14800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84486" y="3002128"/>
            <a:ext cx="9464640" cy="552983"/>
            <a:chOff x="0" y="0"/>
            <a:chExt cx="12619520" cy="7373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619482" cy="737362"/>
            </a:xfrm>
            <a:custGeom>
              <a:avLst/>
              <a:gdLst/>
              <a:ahLst/>
              <a:cxnLst/>
              <a:rect r="r" b="b" t="t" l="l"/>
              <a:pathLst>
                <a:path h="737362" w="12619482">
                  <a:moveTo>
                    <a:pt x="0" y="0"/>
                  </a:moveTo>
                  <a:lnTo>
                    <a:pt x="12619482" y="0"/>
                  </a:lnTo>
                  <a:lnTo>
                    <a:pt x="12619482" y="737362"/>
                  </a:lnTo>
                  <a:lnTo>
                    <a:pt x="0" y="7373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246" r="0" b="-283239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84486" y="2973553"/>
            <a:ext cx="9464640" cy="581558"/>
            <a:chOff x="0" y="0"/>
            <a:chExt cx="12619520" cy="7754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619523" cy="775405"/>
            </a:xfrm>
            <a:custGeom>
              <a:avLst/>
              <a:gdLst/>
              <a:ahLst/>
              <a:cxnLst/>
              <a:rect r="r" b="b" t="t" l="l"/>
              <a:pathLst>
                <a:path h="775405" w="12619523">
                  <a:moveTo>
                    <a:pt x="0" y="0"/>
                  </a:moveTo>
                  <a:lnTo>
                    <a:pt x="12619523" y="0"/>
                  </a:lnTo>
                  <a:lnTo>
                    <a:pt x="12619523" y="775405"/>
                  </a:lnTo>
                  <a:lnTo>
                    <a:pt x="0" y="7754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7113" r="0" b="-26711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619520" cy="8135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Arreglo subyacente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4486" y="3636578"/>
            <a:ext cx="9464640" cy="589588"/>
            <a:chOff x="0" y="0"/>
            <a:chExt cx="12619520" cy="78611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619482" cy="786130"/>
            </a:xfrm>
            <a:custGeom>
              <a:avLst/>
              <a:gdLst/>
              <a:ahLst/>
              <a:cxnLst/>
              <a:rect r="r" b="b" t="t" l="l"/>
              <a:pathLst>
                <a:path h="786130" w="12619482">
                  <a:moveTo>
                    <a:pt x="0" y="0"/>
                  </a:moveTo>
                  <a:lnTo>
                    <a:pt x="12619482" y="0"/>
                  </a:lnTo>
                  <a:lnTo>
                    <a:pt x="12619482" y="786130"/>
                  </a:lnTo>
                  <a:lnTo>
                    <a:pt x="0" y="7861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571" r="0" b="-262568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84486" y="3608003"/>
            <a:ext cx="9464640" cy="618163"/>
            <a:chOff x="0" y="0"/>
            <a:chExt cx="12619520" cy="82421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619523" cy="824217"/>
            </a:xfrm>
            <a:custGeom>
              <a:avLst/>
              <a:gdLst/>
              <a:ahLst/>
              <a:cxnLst/>
              <a:rect r="r" b="b" t="t" l="l"/>
              <a:pathLst>
                <a:path h="824217" w="12619523">
                  <a:moveTo>
                    <a:pt x="0" y="0"/>
                  </a:moveTo>
                  <a:lnTo>
                    <a:pt x="12619523" y="0"/>
                  </a:lnTo>
                  <a:lnTo>
                    <a:pt x="12619523" y="824217"/>
                  </a:lnTo>
                  <a:lnTo>
                    <a:pt x="0" y="8242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8333" r="0" b="-24833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619520" cy="862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Dato[] heap — representación compacta en memoria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377876" y="4623159"/>
            <a:ext cx="10077793" cy="1480080"/>
          </a:xfrm>
          <a:custGeom>
            <a:avLst/>
            <a:gdLst/>
            <a:ahLst/>
            <a:cxnLst/>
            <a:rect r="r" b="b" t="t" l="l"/>
            <a:pathLst>
              <a:path h="1480080" w="10077793">
                <a:moveTo>
                  <a:pt x="0" y="0"/>
                </a:moveTo>
                <a:lnTo>
                  <a:pt x="10077793" y="0"/>
                </a:lnTo>
                <a:lnTo>
                  <a:pt x="10077793" y="1480080"/>
                </a:lnTo>
                <a:lnTo>
                  <a:pt x="0" y="1480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684486" y="4728782"/>
            <a:ext cx="9464640" cy="552983"/>
            <a:chOff x="0" y="0"/>
            <a:chExt cx="12619520" cy="7373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619482" cy="737362"/>
            </a:xfrm>
            <a:custGeom>
              <a:avLst/>
              <a:gdLst/>
              <a:ahLst/>
              <a:cxnLst/>
              <a:rect r="r" b="b" t="t" l="l"/>
              <a:pathLst>
                <a:path h="737362" w="12619482">
                  <a:moveTo>
                    <a:pt x="0" y="0"/>
                  </a:moveTo>
                  <a:lnTo>
                    <a:pt x="12619482" y="0"/>
                  </a:lnTo>
                  <a:lnTo>
                    <a:pt x="12619482" y="737362"/>
                  </a:lnTo>
                  <a:lnTo>
                    <a:pt x="0" y="7373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246" r="0" b="-283239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84486" y="4700206"/>
            <a:ext cx="9464640" cy="581558"/>
            <a:chOff x="0" y="0"/>
            <a:chExt cx="12619520" cy="77541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619523" cy="775405"/>
            </a:xfrm>
            <a:custGeom>
              <a:avLst/>
              <a:gdLst/>
              <a:ahLst/>
              <a:cxnLst/>
              <a:rect r="r" b="b" t="t" l="l"/>
              <a:pathLst>
                <a:path h="775405" w="12619523">
                  <a:moveTo>
                    <a:pt x="0" y="0"/>
                  </a:moveTo>
                  <a:lnTo>
                    <a:pt x="12619523" y="0"/>
                  </a:lnTo>
                  <a:lnTo>
                    <a:pt x="12619523" y="775405"/>
                  </a:lnTo>
                  <a:lnTo>
                    <a:pt x="0" y="7754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7113" r="0" b="-26711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2619520" cy="8135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Propiedad Max-Heap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84486" y="5363232"/>
            <a:ext cx="9464640" cy="589588"/>
            <a:chOff x="0" y="0"/>
            <a:chExt cx="12619520" cy="78611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619482" cy="786130"/>
            </a:xfrm>
            <a:custGeom>
              <a:avLst/>
              <a:gdLst/>
              <a:ahLst/>
              <a:cxnLst/>
              <a:rect r="r" b="b" t="t" l="l"/>
              <a:pathLst>
                <a:path h="786130" w="12619482">
                  <a:moveTo>
                    <a:pt x="0" y="0"/>
                  </a:moveTo>
                  <a:lnTo>
                    <a:pt x="12619482" y="0"/>
                  </a:lnTo>
                  <a:lnTo>
                    <a:pt x="12619482" y="786130"/>
                  </a:lnTo>
                  <a:lnTo>
                    <a:pt x="0" y="7861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571" r="0" b="-262568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84486" y="5334657"/>
            <a:ext cx="9464640" cy="618163"/>
            <a:chOff x="0" y="0"/>
            <a:chExt cx="12619520" cy="82421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619523" cy="824217"/>
            </a:xfrm>
            <a:custGeom>
              <a:avLst/>
              <a:gdLst/>
              <a:ahLst/>
              <a:cxnLst/>
              <a:rect r="r" b="b" t="t" l="l"/>
              <a:pathLst>
                <a:path h="824217" w="12619523">
                  <a:moveTo>
                    <a:pt x="0" y="0"/>
                  </a:moveTo>
                  <a:lnTo>
                    <a:pt x="12619523" y="0"/>
                  </a:lnTo>
                  <a:lnTo>
                    <a:pt x="12619523" y="824217"/>
                  </a:lnTo>
                  <a:lnTo>
                    <a:pt x="0" y="8242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8333" r="0" b="-24833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2619520" cy="862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heap[padre].ocurrencia ≥ heap[hijo].ocurrencia siempre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377876" y="6349813"/>
            <a:ext cx="10077793" cy="1480080"/>
          </a:xfrm>
          <a:custGeom>
            <a:avLst/>
            <a:gdLst/>
            <a:ahLst/>
            <a:cxnLst/>
            <a:rect r="r" b="b" t="t" l="l"/>
            <a:pathLst>
              <a:path h="1480080" w="10077793">
                <a:moveTo>
                  <a:pt x="0" y="0"/>
                </a:moveTo>
                <a:lnTo>
                  <a:pt x="10077793" y="0"/>
                </a:lnTo>
                <a:lnTo>
                  <a:pt x="10077793" y="1480080"/>
                </a:lnTo>
                <a:lnTo>
                  <a:pt x="0" y="1480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684486" y="6455435"/>
            <a:ext cx="9464640" cy="552983"/>
            <a:chOff x="0" y="0"/>
            <a:chExt cx="12619520" cy="73731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619482" cy="737362"/>
            </a:xfrm>
            <a:custGeom>
              <a:avLst/>
              <a:gdLst/>
              <a:ahLst/>
              <a:cxnLst/>
              <a:rect r="r" b="b" t="t" l="l"/>
              <a:pathLst>
                <a:path h="737362" w="12619482">
                  <a:moveTo>
                    <a:pt x="0" y="0"/>
                  </a:moveTo>
                  <a:lnTo>
                    <a:pt x="12619482" y="0"/>
                  </a:lnTo>
                  <a:lnTo>
                    <a:pt x="12619482" y="737362"/>
                  </a:lnTo>
                  <a:lnTo>
                    <a:pt x="0" y="7373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246" r="0" b="-283239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84486" y="6426860"/>
            <a:ext cx="9464640" cy="581558"/>
            <a:chOff x="0" y="0"/>
            <a:chExt cx="12619520" cy="7754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619523" cy="775405"/>
            </a:xfrm>
            <a:custGeom>
              <a:avLst/>
              <a:gdLst/>
              <a:ahLst/>
              <a:cxnLst/>
              <a:rect r="r" b="b" t="t" l="l"/>
              <a:pathLst>
                <a:path h="775405" w="12619523">
                  <a:moveTo>
                    <a:pt x="0" y="0"/>
                  </a:moveTo>
                  <a:lnTo>
                    <a:pt x="12619523" y="0"/>
                  </a:lnTo>
                  <a:lnTo>
                    <a:pt x="12619523" y="775405"/>
                  </a:lnTo>
                  <a:lnTo>
                    <a:pt x="0" y="7754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7113" r="0" b="-26711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2619520" cy="8135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Índice del padre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84486" y="7089886"/>
            <a:ext cx="9464640" cy="589588"/>
            <a:chOff x="0" y="0"/>
            <a:chExt cx="12619520" cy="78611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619482" cy="786130"/>
            </a:xfrm>
            <a:custGeom>
              <a:avLst/>
              <a:gdLst/>
              <a:ahLst/>
              <a:cxnLst/>
              <a:rect r="r" b="b" t="t" l="l"/>
              <a:pathLst>
                <a:path h="786130" w="12619482">
                  <a:moveTo>
                    <a:pt x="0" y="0"/>
                  </a:moveTo>
                  <a:lnTo>
                    <a:pt x="12619482" y="0"/>
                  </a:lnTo>
                  <a:lnTo>
                    <a:pt x="12619482" y="786130"/>
                  </a:lnTo>
                  <a:lnTo>
                    <a:pt x="0" y="7861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571" r="0" b="-262568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84486" y="7061311"/>
            <a:ext cx="9464640" cy="618163"/>
            <a:chOff x="0" y="0"/>
            <a:chExt cx="12619520" cy="82421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619523" cy="824217"/>
            </a:xfrm>
            <a:custGeom>
              <a:avLst/>
              <a:gdLst/>
              <a:ahLst/>
              <a:cxnLst/>
              <a:rect r="r" b="b" t="t" l="l"/>
              <a:pathLst>
                <a:path h="824217" w="12619523">
                  <a:moveTo>
                    <a:pt x="0" y="0"/>
                  </a:moveTo>
                  <a:lnTo>
                    <a:pt x="12619523" y="0"/>
                  </a:lnTo>
                  <a:lnTo>
                    <a:pt x="12619523" y="824217"/>
                  </a:lnTo>
                  <a:lnTo>
                    <a:pt x="0" y="8242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8333" r="0" b="-24833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2619520" cy="862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padre = (i - 1) / 2</a:t>
              </a: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377876" y="8076467"/>
            <a:ext cx="10077793" cy="1480080"/>
          </a:xfrm>
          <a:custGeom>
            <a:avLst/>
            <a:gdLst/>
            <a:ahLst/>
            <a:cxnLst/>
            <a:rect r="r" b="b" t="t" l="l"/>
            <a:pathLst>
              <a:path h="1480080" w="10077793">
                <a:moveTo>
                  <a:pt x="0" y="0"/>
                </a:moveTo>
                <a:lnTo>
                  <a:pt x="10077793" y="0"/>
                </a:lnTo>
                <a:lnTo>
                  <a:pt x="10077793" y="1480080"/>
                </a:lnTo>
                <a:lnTo>
                  <a:pt x="0" y="1480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684486" y="8182089"/>
            <a:ext cx="9464640" cy="552983"/>
            <a:chOff x="0" y="0"/>
            <a:chExt cx="12619520" cy="73731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619482" cy="737362"/>
            </a:xfrm>
            <a:custGeom>
              <a:avLst/>
              <a:gdLst/>
              <a:ahLst/>
              <a:cxnLst/>
              <a:rect r="r" b="b" t="t" l="l"/>
              <a:pathLst>
                <a:path h="737362" w="12619482">
                  <a:moveTo>
                    <a:pt x="0" y="0"/>
                  </a:moveTo>
                  <a:lnTo>
                    <a:pt x="12619482" y="0"/>
                  </a:lnTo>
                  <a:lnTo>
                    <a:pt x="12619482" y="737362"/>
                  </a:lnTo>
                  <a:lnTo>
                    <a:pt x="0" y="7373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246" r="0" b="-283239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684486" y="8153514"/>
            <a:ext cx="9464640" cy="581558"/>
            <a:chOff x="0" y="0"/>
            <a:chExt cx="12619520" cy="77541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619523" cy="775405"/>
            </a:xfrm>
            <a:custGeom>
              <a:avLst/>
              <a:gdLst/>
              <a:ahLst/>
              <a:cxnLst/>
              <a:rect r="r" b="b" t="t" l="l"/>
              <a:pathLst>
                <a:path h="775405" w="12619523">
                  <a:moveTo>
                    <a:pt x="0" y="0"/>
                  </a:moveTo>
                  <a:lnTo>
                    <a:pt x="12619523" y="0"/>
                  </a:lnTo>
                  <a:lnTo>
                    <a:pt x="12619523" y="775405"/>
                  </a:lnTo>
                  <a:lnTo>
                    <a:pt x="0" y="7754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7113" r="0" b="-26711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2619520" cy="8135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Hijos de i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84486" y="8816540"/>
            <a:ext cx="9464640" cy="589588"/>
            <a:chOff x="0" y="0"/>
            <a:chExt cx="12619520" cy="78611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619482" cy="786130"/>
            </a:xfrm>
            <a:custGeom>
              <a:avLst/>
              <a:gdLst/>
              <a:ahLst/>
              <a:cxnLst/>
              <a:rect r="r" b="b" t="t" l="l"/>
              <a:pathLst>
                <a:path h="786130" w="12619482">
                  <a:moveTo>
                    <a:pt x="0" y="0"/>
                  </a:moveTo>
                  <a:lnTo>
                    <a:pt x="12619482" y="0"/>
                  </a:lnTo>
                  <a:lnTo>
                    <a:pt x="12619482" y="786130"/>
                  </a:lnTo>
                  <a:lnTo>
                    <a:pt x="0" y="7861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571" r="0" b="-262568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84486" y="8787965"/>
            <a:ext cx="9464640" cy="618163"/>
            <a:chOff x="0" y="0"/>
            <a:chExt cx="12619520" cy="82421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619523" cy="824217"/>
            </a:xfrm>
            <a:custGeom>
              <a:avLst/>
              <a:gdLst/>
              <a:ahLst/>
              <a:cxnLst/>
              <a:rect r="r" b="b" t="t" l="l"/>
              <a:pathLst>
                <a:path h="824217" w="12619523">
                  <a:moveTo>
                    <a:pt x="0" y="0"/>
                  </a:moveTo>
                  <a:lnTo>
                    <a:pt x="12619523" y="0"/>
                  </a:lnTo>
                  <a:lnTo>
                    <a:pt x="12619523" y="824217"/>
                  </a:lnTo>
                  <a:lnTo>
                    <a:pt x="0" y="8242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8333" r="0" b="-24833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2619520" cy="862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izq = 2i + 1  |  der = 2i + 2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18332482" cy="2056162"/>
            <a:chOff x="0" y="0"/>
            <a:chExt cx="24443309" cy="27415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3310" cy="2741549"/>
            </a:xfrm>
            <a:custGeom>
              <a:avLst/>
              <a:gdLst/>
              <a:ahLst/>
              <a:cxnLst/>
              <a:rect r="r" b="b" t="t" l="l"/>
              <a:pathLst>
                <a:path h="2741549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2741549"/>
                  </a:lnTo>
                  <a:lnTo>
                    <a:pt x="0" y="2741549"/>
                  </a:lnTo>
                  <a:close/>
                </a:path>
              </a:pathLst>
            </a:custGeom>
            <a:solidFill>
              <a:srgbClr val="0F1B4C"/>
            </a:solidFill>
            <a:ln w="25400" cap="sq">
              <a:solidFill>
                <a:srgbClr val="0F1B4C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6459200" cy="2011680"/>
            <a:chOff x="0" y="0"/>
            <a:chExt cx="21945600" cy="26822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312" r="0" b="-10931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-7144"/>
            <a:ext cx="16459200" cy="2018824"/>
            <a:chOff x="0" y="0"/>
            <a:chExt cx="21945600" cy="26917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2691765"/>
            </a:xfrm>
            <a:custGeom>
              <a:avLst/>
              <a:gdLst/>
              <a:ahLst/>
              <a:cxnLst/>
              <a:rect r="r" b="b" t="t" l="l"/>
              <a:pathLst>
                <a:path h="26917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91765"/>
                  </a:lnTo>
                  <a:lnTo>
                    <a:pt x="0" y="26917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858" r="0" b="-10885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945600" cy="2701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8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Diagramas de Flujo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2194560"/>
            <a:ext cx="16459200" cy="822960"/>
            <a:chOff x="0" y="0"/>
            <a:chExt cx="2194560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429" r="0" b="-33943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2151698"/>
            <a:ext cx="16459200" cy="865823"/>
            <a:chOff x="0" y="0"/>
            <a:chExt cx="21945600" cy="11544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154430"/>
            </a:xfrm>
            <a:custGeom>
              <a:avLst/>
              <a:gdLst/>
              <a:ahLst/>
              <a:cxnLst/>
              <a:rect r="r" b="b" t="t" l="l"/>
              <a:pathLst>
                <a:path h="115443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54430"/>
                  </a:lnTo>
                  <a:lnTo>
                    <a:pt x="0" y="11544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0408" r="0" b="-32040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1945600" cy="1211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 elaboraron diagramas de flujo completos para cada método de la clase Estrategia: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17858" y="3233042"/>
            <a:ext cx="8365426" cy="1470851"/>
          </a:xfrm>
          <a:custGeom>
            <a:avLst/>
            <a:gdLst/>
            <a:ahLst/>
            <a:cxnLst/>
            <a:rect r="r" b="b" t="t" l="l"/>
            <a:pathLst>
              <a:path h="1470851" w="8365426">
                <a:moveTo>
                  <a:pt x="0" y="0"/>
                </a:moveTo>
                <a:lnTo>
                  <a:pt x="8365427" y="0"/>
                </a:lnTo>
                <a:lnTo>
                  <a:pt x="8365427" y="1470851"/>
                </a:lnTo>
                <a:lnTo>
                  <a:pt x="0" y="14708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896112" y="3364992"/>
            <a:ext cx="7680960" cy="512064"/>
            <a:chOff x="0" y="0"/>
            <a:chExt cx="10241280" cy="6827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96112" y="3336417"/>
            <a:ext cx="7680960" cy="540639"/>
            <a:chOff x="0" y="0"/>
            <a:chExt cx="10241280" cy="7208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1280" cy="720852"/>
            </a:xfrm>
            <a:custGeom>
              <a:avLst/>
              <a:gdLst/>
              <a:ahLst/>
              <a:cxnLst/>
              <a:rect r="r" b="b" t="t" l="l"/>
              <a:pathLst>
                <a:path h="7208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6827" r="0" b="-22682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24128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BuscarConHeap()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6112" y="3950208"/>
            <a:ext cx="7680960" cy="585216"/>
            <a:chOff x="0" y="0"/>
            <a:chExt cx="10241280" cy="7802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563" r="0" b="-205563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96112" y="3921633"/>
            <a:ext cx="7680960" cy="613791"/>
            <a:chOff x="0" y="0"/>
            <a:chExt cx="10241280" cy="8183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0" cy="818388"/>
            </a:xfrm>
            <a:custGeom>
              <a:avLst/>
              <a:gdLst/>
              <a:ahLst/>
              <a:cxnLst/>
              <a:rect r="r" b="b" t="t" l="l"/>
              <a:pathLst>
                <a:path h="8183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3835" r="0" b="-19383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241280" cy="856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Sin rombos iniciales → rombo while → extrae raíz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9396098" y="3233042"/>
            <a:ext cx="8365426" cy="1470851"/>
          </a:xfrm>
          <a:custGeom>
            <a:avLst/>
            <a:gdLst/>
            <a:ahLst/>
            <a:cxnLst/>
            <a:rect r="r" b="b" t="t" l="l"/>
            <a:pathLst>
              <a:path h="1470851" w="8365426">
                <a:moveTo>
                  <a:pt x="0" y="0"/>
                </a:moveTo>
                <a:lnTo>
                  <a:pt x="8365427" y="0"/>
                </a:lnTo>
                <a:lnTo>
                  <a:pt x="8365427" y="1470851"/>
                </a:lnTo>
                <a:lnTo>
                  <a:pt x="0" y="14708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9674352" y="3364992"/>
            <a:ext cx="7680960" cy="512064"/>
            <a:chOff x="0" y="0"/>
            <a:chExt cx="1024128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674352" y="3336417"/>
            <a:ext cx="7680960" cy="540639"/>
            <a:chOff x="0" y="0"/>
            <a:chExt cx="10241280" cy="7208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41280" cy="720852"/>
            </a:xfrm>
            <a:custGeom>
              <a:avLst/>
              <a:gdLst/>
              <a:ahLst/>
              <a:cxnLst/>
              <a:rect r="r" b="b" t="t" l="l"/>
              <a:pathLst>
                <a:path h="7208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6827" r="0" b="-22682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24128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BuscarConOtro()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674352" y="3950208"/>
            <a:ext cx="7680960" cy="585216"/>
            <a:chOff x="0" y="0"/>
            <a:chExt cx="10241280" cy="7802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563" r="0" b="-205563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74352" y="3921633"/>
            <a:ext cx="7680960" cy="613791"/>
            <a:chOff x="0" y="0"/>
            <a:chExt cx="10241280" cy="81838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241280" cy="818388"/>
            </a:xfrm>
            <a:custGeom>
              <a:avLst/>
              <a:gdLst/>
              <a:ahLst/>
              <a:cxnLst/>
              <a:rect r="r" b="b" t="t" l="l"/>
              <a:pathLst>
                <a:path h="8183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3835" r="0" b="-19383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241280" cy="856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foreach dicc → lista → Ordenamiento → for toma N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617858" y="4933826"/>
            <a:ext cx="8365426" cy="1470850"/>
          </a:xfrm>
          <a:custGeom>
            <a:avLst/>
            <a:gdLst/>
            <a:ahLst/>
            <a:cxnLst/>
            <a:rect r="r" b="b" t="t" l="l"/>
            <a:pathLst>
              <a:path h="1470850" w="8365426">
                <a:moveTo>
                  <a:pt x="0" y="0"/>
                </a:moveTo>
                <a:lnTo>
                  <a:pt x="8365427" y="0"/>
                </a:lnTo>
                <a:lnTo>
                  <a:pt x="8365427" y="1470851"/>
                </a:lnTo>
                <a:lnTo>
                  <a:pt x="0" y="14708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896112" y="5065776"/>
            <a:ext cx="7680960" cy="512064"/>
            <a:chOff x="0" y="0"/>
            <a:chExt cx="10241280" cy="6827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96112" y="5037201"/>
            <a:ext cx="7680960" cy="540639"/>
            <a:chOff x="0" y="0"/>
            <a:chExt cx="10241280" cy="72085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241280" cy="720852"/>
            </a:xfrm>
            <a:custGeom>
              <a:avLst/>
              <a:gdLst/>
              <a:ahLst/>
              <a:cxnLst/>
              <a:rect r="r" b="b" t="t" l="l"/>
              <a:pathLst>
                <a:path h="7208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6827" r="0" b="-22682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024128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FiltrarArriba()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96112" y="5650992"/>
            <a:ext cx="7680960" cy="585216"/>
            <a:chOff x="0" y="0"/>
            <a:chExt cx="10241280" cy="78028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563" r="0" b="-205563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96112" y="5622417"/>
            <a:ext cx="7680960" cy="613791"/>
            <a:chOff x="0" y="0"/>
            <a:chExt cx="10241280" cy="81838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241280" cy="818388"/>
            </a:xfrm>
            <a:custGeom>
              <a:avLst/>
              <a:gdLst/>
              <a:ahLst/>
              <a:cxnLst/>
              <a:rect r="r" b="b" t="t" l="l"/>
              <a:pathLst>
                <a:path h="8183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3835" r="0" b="-19383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241280" cy="856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 rombo while: sube mientras supera al padre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9396098" y="4933826"/>
            <a:ext cx="8365426" cy="1470850"/>
          </a:xfrm>
          <a:custGeom>
            <a:avLst/>
            <a:gdLst/>
            <a:ahLst/>
            <a:cxnLst/>
            <a:rect r="r" b="b" t="t" l="l"/>
            <a:pathLst>
              <a:path h="1470850" w="8365426">
                <a:moveTo>
                  <a:pt x="0" y="0"/>
                </a:moveTo>
                <a:lnTo>
                  <a:pt x="8365427" y="0"/>
                </a:lnTo>
                <a:lnTo>
                  <a:pt x="8365427" y="1470851"/>
                </a:lnTo>
                <a:lnTo>
                  <a:pt x="0" y="14708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9674352" y="5065776"/>
            <a:ext cx="7680960" cy="512064"/>
            <a:chOff x="0" y="0"/>
            <a:chExt cx="10241280" cy="68275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674352" y="5037201"/>
            <a:ext cx="7680960" cy="540639"/>
            <a:chOff x="0" y="0"/>
            <a:chExt cx="10241280" cy="7208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241280" cy="720852"/>
            </a:xfrm>
            <a:custGeom>
              <a:avLst/>
              <a:gdLst/>
              <a:ahLst/>
              <a:cxnLst/>
              <a:rect r="r" b="b" t="t" l="l"/>
              <a:pathLst>
                <a:path h="7208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6827" r="0" b="-22682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24128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FiltrarAbajo()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674352" y="5650992"/>
            <a:ext cx="7680960" cy="585216"/>
            <a:chOff x="0" y="0"/>
            <a:chExt cx="10241280" cy="78028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563" r="0" b="-205563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674352" y="5622417"/>
            <a:ext cx="7680960" cy="613791"/>
            <a:chOff x="0" y="0"/>
            <a:chExt cx="10241280" cy="81838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241280" cy="818388"/>
            </a:xfrm>
            <a:custGeom>
              <a:avLst/>
              <a:gdLst/>
              <a:ahLst/>
              <a:cxnLst/>
              <a:rect r="r" b="b" t="t" l="l"/>
              <a:pathLst>
                <a:path h="8183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3835" r="0" b="-19383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0241280" cy="856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rombos if + 1 rombo while: baja al hijo mayor</a:t>
              </a:r>
            </a:p>
          </p:txBody>
        </p:sp>
      </p:grpSp>
      <p:sp>
        <p:nvSpPr>
          <p:cNvPr name="Freeform 58" id="58"/>
          <p:cNvSpPr/>
          <p:nvPr/>
        </p:nvSpPr>
        <p:spPr>
          <a:xfrm flipH="false" flipV="false" rot="0">
            <a:off x="617858" y="6634610"/>
            <a:ext cx="8365426" cy="1470850"/>
          </a:xfrm>
          <a:custGeom>
            <a:avLst/>
            <a:gdLst/>
            <a:ahLst/>
            <a:cxnLst/>
            <a:rect r="r" b="b" t="t" l="l"/>
            <a:pathLst>
              <a:path h="1470850" w="8365426">
                <a:moveTo>
                  <a:pt x="0" y="0"/>
                </a:moveTo>
                <a:lnTo>
                  <a:pt x="8365427" y="0"/>
                </a:lnTo>
                <a:lnTo>
                  <a:pt x="8365427" y="1470851"/>
                </a:lnTo>
                <a:lnTo>
                  <a:pt x="0" y="14708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896112" y="6766560"/>
            <a:ext cx="7680960" cy="512064"/>
            <a:chOff x="0" y="0"/>
            <a:chExt cx="10241280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896112" y="6737985"/>
            <a:ext cx="7680960" cy="540639"/>
            <a:chOff x="0" y="0"/>
            <a:chExt cx="10241280" cy="72085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241280" cy="720852"/>
            </a:xfrm>
            <a:custGeom>
              <a:avLst/>
              <a:gdLst/>
              <a:ahLst/>
              <a:cxnLst/>
              <a:rect r="r" b="b" t="t" l="l"/>
              <a:pathLst>
                <a:path h="7208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6827" r="0" b="-22682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024128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Ordenamiento()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96112" y="7351776"/>
            <a:ext cx="7680960" cy="585216"/>
            <a:chOff x="0" y="0"/>
            <a:chExt cx="10241280" cy="78028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563" r="0" b="-205563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896112" y="7323201"/>
            <a:ext cx="7680960" cy="613791"/>
            <a:chOff x="0" y="0"/>
            <a:chExt cx="10241280" cy="81838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241280" cy="818388"/>
            </a:xfrm>
            <a:custGeom>
              <a:avLst/>
              <a:gdLst/>
              <a:ahLst/>
              <a:cxnLst/>
              <a:rect r="r" b="b" t="t" l="l"/>
              <a:pathLst>
                <a:path h="8183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3835" r="0" b="-19383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0241280" cy="856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for anidados + 1 if: selección descendente</a:t>
              </a:r>
            </a:p>
          </p:txBody>
        </p:sp>
      </p:grpSp>
      <p:sp>
        <p:nvSpPr>
          <p:cNvPr name="Freeform 69" id="69"/>
          <p:cNvSpPr/>
          <p:nvPr/>
        </p:nvSpPr>
        <p:spPr>
          <a:xfrm flipH="false" flipV="false" rot="0">
            <a:off x="9396098" y="6634610"/>
            <a:ext cx="8365426" cy="1470850"/>
          </a:xfrm>
          <a:custGeom>
            <a:avLst/>
            <a:gdLst/>
            <a:ahLst/>
            <a:cxnLst/>
            <a:rect r="r" b="b" t="t" l="l"/>
            <a:pathLst>
              <a:path h="1470850" w="8365426">
                <a:moveTo>
                  <a:pt x="0" y="0"/>
                </a:moveTo>
                <a:lnTo>
                  <a:pt x="8365427" y="0"/>
                </a:lnTo>
                <a:lnTo>
                  <a:pt x="8365427" y="1470851"/>
                </a:lnTo>
                <a:lnTo>
                  <a:pt x="0" y="14708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9674352" y="6766560"/>
            <a:ext cx="7680960" cy="512064"/>
            <a:chOff x="0" y="0"/>
            <a:chExt cx="10241280" cy="68275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674352" y="6737985"/>
            <a:ext cx="7680960" cy="540639"/>
            <a:chOff x="0" y="0"/>
            <a:chExt cx="10241280" cy="72085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241280" cy="720852"/>
            </a:xfrm>
            <a:custGeom>
              <a:avLst/>
              <a:gdLst/>
              <a:ahLst/>
              <a:cxnLst/>
              <a:rect r="r" b="b" t="t" l="l"/>
              <a:pathLst>
                <a:path h="7208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6827" r="0" b="-22682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024128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Consulta1()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674352" y="7351776"/>
            <a:ext cx="7680960" cy="585216"/>
            <a:chOff x="0" y="0"/>
            <a:chExt cx="10241280" cy="78028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563" r="0" b="-205563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674352" y="7323201"/>
            <a:ext cx="7680960" cy="613791"/>
            <a:chOff x="0" y="0"/>
            <a:chExt cx="10241280" cy="81838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241280" cy="818388"/>
            </a:xfrm>
            <a:custGeom>
              <a:avLst/>
              <a:gdLst/>
              <a:ahLst/>
              <a:cxnLst/>
              <a:rect r="r" b="b" t="t" l="l"/>
              <a:pathLst>
                <a:path h="8183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3835" r="0" b="-19383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0241280" cy="856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Secuencia lineal: cronómetro × 2, sin rombos</a:t>
              </a:r>
            </a:p>
          </p:txBody>
        </p:sp>
      </p:grpSp>
      <p:sp>
        <p:nvSpPr>
          <p:cNvPr name="Freeform 80" id="80"/>
          <p:cNvSpPr/>
          <p:nvPr/>
        </p:nvSpPr>
        <p:spPr>
          <a:xfrm flipH="false" flipV="false" rot="0">
            <a:off x="617858" y="8335394"/>
            <a:ext cx="8365426" cy="1470851"/>
          </a:xfrm>
          <a:custGeom>
            <a:avLst/>
            <a:gdLst/>
            <a:ahLst/>
            <a:cxnLst/>
            <a:rect r="r" b="b" t="t" l="l"/>
            <a:pathLst>
              <a:path h="1470851" w="8365426">
                <a:moveTo>
                  <a:pt x="0" y="0"/>
                </a:moveTo>
                <a:lnTo>
                  <a:pt x="8365427" y="0"/>
                </a:lnTo>
                <a:lnTo>
                  <a:pt x="8365427" y="1470851"/>
                </a:lnTo>
                <a:lnTo>
                  <a:pt x="0" y="14708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1" id="81"/>
          <p:cNvGrpSpPr/>
          <p:nvPr/>
        </p:nvGrpSpPr>
        <p:grpSpPr>
          <a:xfrm rot="0">
            <a:off x="896112" y="8467344"/>
            <a:ext cx="7680960" cy="512064"/>
            <a:chOff x="0" y="0"/>
            <a:chExt cx="10241280" cy="68275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896112" y="8438769"/>
            <a:ext cx="7680960" cy="540639"/>
            <a:chOff x="0" y="0"/>
            <a:chExt cx="10241280" cy="7208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241280" cy="720852"/>
            </a:xfrm>
            <a:custGeom>
              <a:avLst/>
              <a:gdLst/>
              <a:ahLst/>
              <a:cxnLst/>
              <a:rect r="r" b="b" t="t" l="l"/>
              <a:pathLst>
                <a:path h="7208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6827" r="0" b="-226827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024128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Consulta2()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896112" y="9052560"/>
            <a:ext cx="7680960" cy="585216"/>
            <a:chOff x="0" y="0"/>
            <a:chExt cx="10241280" cy="78028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563" r="0" b="-205563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896112" y="9023985"/>
            <a:ext cx="7680960" cy="613791"/>
            <a:chOff x="0" y="0"/>
            <a:chExt cx="10241280" cy="81838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241280" cy="818388"/>
            </a:xfrm>
            <a:custGeom>
              <a:avLst/>
              <a:gdLst/>
              <a:ahLst/>
              <a:cxnLst/>
              <a:rect r="r" b="b" t="t" l="l"/>
              <a:pathLst>
                <a:path h="8183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3835" r="0" b="-19383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10241280" cy="856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foreach + while: recorre siempre hijo izquierdo</a:t>
              </a:r>
            </a:p>
          </p:txBody>
        </p:sp>
      </p:grpSp>
      <p:sp>
        <p:nvSpPr>
          <p:cNvPr name="Freeform 91" id="91"/>
          <p:cNvSpPr/>
          <p:nvPr/>
        </p:nvSpPr>
        <p:spPr>
          <a:xfrm flipH="false" flipV="false" rot="0">
            <a:off x="9396098" y="8335394"/>
            <a:ext cx="8365426" cy="1470851"/>
          </a:xfrm>
          <a:custGeom>
            <a:avLst/>
            <a:gdLst/>
            <a:ahLst/>
            <a:cxnLst/>
            <a:rect r="r" b="b" t="t" l="l"/>
            <a:pathLst>
              <a:path h="1470851" w="8365426">
                <a:moveTo>
                  <a:pt x="0" y="0"/>
                </a:moveTo>
                <a:lnTo>
                  <a:pt x="8365427" y="0"/>
                </a:lnTo>
                <a:lnTo>
                  <a:pt x="8365427" y="1470851"/>
                </a:lnTo>
                <a:lnTo>
                  <a:pt x="0" y="14708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9674352" y="8467344"/>
            <a:ext cx="7680960" cy="512064"/>
            <a:chOff x="0" y="0"/>
            <a:chExt cx="10241280" cy="6827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9674352" y="8438769"/>
            <a:ext cx="7680960" cy="540639"/>
            <a:chOff x="0" y="0"/>
            <a:chExt cx="10241280" cy="72085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0241280" cy="720852"/>
            </a:xfrm>
            <a:custGeom>
              <a:avLst/>
              <a:gdLst/>
              <a:ahLst/>
              <a:cxnLst/>
              <a:rect r="r" b="b" t="t" l="l"/>
              <a:pathLst>
                <a:path h="7208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6827" r="0" b="-226827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1024128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Consulta3()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9674352" y="9052560"/>
            <a:ext cx="7680960" cy="585216"/>
            <a:chOff x="0" y="0"/>
            <a:chExt cx="10241280" cy="78028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563" r="0" b="-205563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9674352" y="9023985"/>
            <a:ext cx="7680960" cy="613791"/>
            <a:chOff x="0" y="0"/>
            <a:chExt cx="10241280" cy="81838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241280" cy="818388"/>
            </a:xfrm>
            <a:custGeom>
              <a:avLst/>
              <a:gdLst/>
              <a:ahLst/>
              <a:cxnLst/>
              <a:rect r="r" b="b" t="t" l="l"/>
              <a:pathLst>
                <a:path h="8183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3835" r="0" b="-193835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10241280" cy="856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foreach + for + if: recorre heap nivel por nivel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260" y="2011680"/>
            <a:ext cx="18288000" cy="8874978"/>
            <a:chOff x="0" y="0"/>
            <a:chExt cx="24384000" cy="118333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1833304"/>
            </a:xfrm>
            <a:custGeom>
              <a:avLst/>
              <a:gdLst/>
              <a:ahLst/>
              <a:cxnLst/>
              <a:rect r="r" b="b" t="t" l="l"/>
              <a:pathLst>
                <a:path h="11833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833304"/>
                  </a:lnTo>
                  <a:lnTo>
                    <a:pt x="0" y="11833304"/>
                  </a:lnTo>
                  <a:close/>
                </a:path>
              </a:pathLst>
            </a:custGeom>
            <a:solidFill>
              <a:srgbClr val="F0F4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9918" y="2506980"/>
            <a:ext cx="16896679" cy="633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519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Dictionary&lt;string, int&gt; es la estructura clave para contar ocurrencias de forma eficiente.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9899" y="3475767"/>
            <a:ext cx="8756352" cy="1844074"/>
            <a:chOff x="0" y="0"/>
            <a:chExt cx="5560060" cy="11709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60060" cy="1170940"/>
            </a:xfrm>
            <a:custGeom>
              <a:avLst/>
              <a:gdLst/>
              <a:ahLst/>
              <a:cxnLst/>
              <a:rect r="r" b="b" t="t" l="l"/>
              <a:pathLst>
                <a:path h="1170940" w="5560060">
                  <a:moveTo>
                    <a:pt x="0" y="58547"/>
                  </a:moveTo>
                  <a:cubicBezTo>
                    <a:pt x="0" y="26162"/>
                    <a:pt x="26162" y="0"/>
                    <a:pt x="58547" y="0"/>
                  </a:cubicBezTo>
                  <a:lnTo>
                    <a:pt x="5501513" y="0"/>
                  </a:lnTo>
                  <a:cubicBezTo>
                    <a:pt x="5533898" y="0"/>
                    <a:pt x="5560060" y="26162"/>
                    <a:pt x="5560060" y="58547"/>
                  </a:cubicBezTo>
                  <a:lnTo>
                    <a:pt x="5560060" y="1112393"/>
                  </a:lnTo>
                  <a:cubicBezTo>
                    <a:pt x="5560060" y="1144778"/>
                    <a:pt x="5533898" y="1170940"/>
                    <a:pt x="5501513" y="1170940"/>
                  </a:cubicBezTo>
                  <a:lnTo>
                    <a:pt x="58547" y="1170940"/>
                  </a:lnTo>
                  <a:cubicBezTo>
                    <a:pt x="26162" y="1170940"/>
                    <a:pt x="0" y="1144778"/>
                    <a:pt x="0" y="1112393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ADCFC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381907" y="3831381"/>
            <a:ext cx="960039" cy="960039"/>
            <a:chOff x="0" y="0"/>
            <a:chExt cx="609600" cy="609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504592" y="3996577"/>
            <a:ext cx="714668" cy="562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4"/>
              </a:lnSpc>
            </a:pPr>
            <a:r>
              <a:rPr lang="en-US" sz="338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🔑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64362" y="3639826"/>
            <a:ext cx="6720270" cy="47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519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Asocia clave con valor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64362" y="4302177"/>
            <a:ext cx="6720270" cy="777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La clave es el texto del elemento (string)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396269" y="3475767"/>
            <a:ext cx="8756352" cy="1844074"/>
            <a:chOff x="0" y="0"/>
            <a:chExt cx="5560060" cy="11709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560060" cy="1170940"/>
            </a:xfrm>
            <a:custGeom>
              <a:avLst/>
              <a:gdLst/>
              <a:ahLst/>
              <a:cxnLst/>
              <a:rect r="r" b="b" t="t" l="l"/>
              <a:pathLst>
                <a:path h="1170940" w="5560060">
                  <a:moveTo>
                    <a:pt x="0" y="58547"/>
                  </a:moveTo>
                  <a:cubicBezTo>
                    <a:pt x="0" y="26162"/>
                    <a:pt x="26162" y="0"/>
                    <a:pt x="58547" y="0"/>
                  </a:cubicBezTo>
                  <a:lnTo>
                    <a:pt x="5501513" y="0"/>
                  </a:lnTo>
                  <a:cubicBezTo>
                    <a:pt x="5533898" y="0"/>
                    <a:pt x="5560060" y="26162"/>
                    <a:pt x="5560060" y="58547"/>
                  </a:cubicBezTo>
                  <a:lnTo>
                    <a:pt x="5560060" y="1112393"/>
                  </a:lnTo>
                  <a:cubicBezTo>
                    <a:pt x="5560060" y="1144778"/>
                    <a:pt x="5533898" y="1170940"/>
                    <a:pt x="5501513" y="1170940"/>
                  </a:cubicBezTo>
                  <a:lnTo>
                    <a:pt x="58547" y="1170940"/>
                  </a:lnTo>
                  <a:cubicBezTo>
                    <a:pt x="26162" y="1170940"/>
                    <a:pt x="0" y="1144778"/>
                    <a:pt x="0" y="1112393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ADCFC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598277" y="3831381"/>
            <a:ext cx="960039" cy="960039"/>
            <a:chOff x="0" y="0"/>
            <a:chExt cx="6096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636679" y="3957398"/>
            <a:ext cx="883236" cy="699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2"/>
              </a:lnSpc>
            </a:pPr>
            <a:r>
              <a:rPr lang="en-US" sz="418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📊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80733" y="3639826"/>
            <a:ext cx="6720270" cy="47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519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Almacena las ocurrencias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80733" y="4302177"/>
            <a:ext cx="6720270" cy="347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El valor es la cantidad de apariciones (int)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79899" y="5779859"/>
            <a:ext cx="8756352" cy="1844074"/>
            <a:chOff x="0" y="0"/>
            <a:chExt cx="5560060" cy="11709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560060" cy="1170940"/>
            </a:xfrm>
            <a:custGeom>
              <a:avLst/>
              <a:gdLst/>
              <a:ahLst/>
              <a:cxnLst/>
              <a:rect r="r" b="b" t="t" l="l"/>
              <a:pathLst>
                <a:path h="1170940" w="5560060">
                  <a:moveTo>
                    <a:pt x="0" y="58547"/>
                  </a:moveTo>
                  <a:cubicBezTo>
                    <a:pt x="0" y="26162"/>
                    <a:pt x="26162" y="0"/>
                    <a:pt x="58547" y="0"/>
                  </a:cubicBezTo>
                  <a:lnTo>
                    <a:pt x="5501513" y="0"/>
                  </a:lnTo>
                  <a:cubicBezTo>
                    <a:pt x="5533898" y="0"/>
                    <a:pt x="5560060" y="26162"/>
                    <a:pt x="5560060" y="58547"/>
                  </a:cubicBezTo>
                  <a:lnTo>
                    <a:pt x="5560060" y="1112393"/>
                  </a:lnTo>
                  <a:cubicBezTo>
                    <a:pt x="5560060" y="1144778"/>
                    <a:pt x="5533898" y="1170940"/>
                    <a:pt x="5501513" y="1170940"/>
                  </a:cubicBezTo>
                  <a:lnTo>
                    <a:pt x="58547" y="1170940"/>
                  </a:lnTo>
                  <a:cubicBezTo>
                    <a:pt x="26162" y="1170940"/>
                    <a:pt x="0" y="1144778"/>
                    <a:pt x="0" y="1112393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ADCFC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381907" y="6135474"/>
            <a:ext cx="960039" cy="960039"/>
            <a:chOff x="0" y="0"/>
            <a:chExt cx="609600" cy="609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444588" y="6239950"/>
            <a:ext cx="834676" cy="665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6"/>
              </a:lnSpc>
            </a:pPr>
            <a:r>
              <a:rPr lang="en-US" sz="395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⚡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64362" y="5943918"/>
            <a:ext cx="6720270" cy="47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519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Inserción y búsqueda O(1)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64362" y="6606269"/>
            <a:ext cx="6720270" cy="777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Acceso promedio en tiempo constante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396269" y="5779859"/>
            <a:ext cx="8756352" cy="1844074"/>
            <a:chOff x="0" y="0"/>
            <a:chExt cx="5560060" cy="11709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560060" cy="1170940"/>
            </a:xfrm>
            <a:custGeom>
              <a:avLst/>
              <a:gdLst/>
              <a:ahLst/>
              <a:cxnLst/>
              <a:rect r="r" b="b" t="t" l="l"/>
              <a:pathLst>
                <a:path h="1170940" w="5560060">
                  <a:moveTo>
                    <a:pt x="0" y="58547"/>
                  </a:moveTo>
                  <a:cubicBezTo>
                    <a:pt x="0" y="26162"/>
                    <a:pt x="26162" y="0"/>
                    <a:pt x="58547" y="0"/>
                  </a:cubicBezTo>
                  <a:lnTo>
                    <a:pt x="5501513" y="0"/>
                  </a:lnTo>
                  <a:cubicBezTo>
                    <a:pt x="5533898" y="0"/>
                    <a:pt x="5560060" y="26162"/>
                    <a:pt x="5560060" y="58547"/>
                  </a:cubicBezTo>
                  <a:lnTo>
                    <a:pt x="5560060" y="1112393"/>
                  </a:lnTo>
                  <a:cubicBezTo>
                    <a:pt x="5560060" y="1144778"/>
                    <a:pt x="5533898" y="1170940"/>
                    <a:pt x="5501513" y="1170940"/>
                  </a:cubicBezTo>
                  <a:lnTo>
                    <a:pt x="58547" y="1170940"/>
                  </a:lnTo>
                  <a:cubicBezTo>
                    <a:pt x="26162" y="1170940"/>
                    <a:pt x="0" y="1144778"/>
                    <a:pt x="0" y="1112393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ADCFC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598277" y="6135474"/>
            <a:ext cx="960039" cy="960039"/>
            <a:chOff x="0" y="0"/>
            <a:chExt cx="609600" cy="609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646973" y="6268639"/>
            <a:ext cx="862647" cy="684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5"/>
              </a:lnSpc>
            </a:pPr>
            <a:r>
              <a:rPr lang="en-US" sz="4088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🔢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980733" y="5943918"/>
            <a:ext cx="6720270" cy="47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519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Facilita el conteo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980733" y="6606269"/>
            <a:ext cx="6720270" cy="777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diccionario[d]++  o  diccionario[d] = 1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4730482" y="8083952"/>
            <a:ext cx="8756352" cy="1844074"/>
            <a:chOff x="0" y="0"/>
            <a:chExt cx="5560060" cy="11709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560060" cy="1170940"/>
            </a:xfrm>
            <a:custGeom>
              <a:avLst/>
              <a:gdLst/>
              <a:ahLst/>
              <a:cxnLst/>
              <a:rect r="r" b="b" t="t" l="l"/>
              <a:pathLst>
                <a:path h="1170940" w="5560060">
                  <a:moveTo>
                    <a:pt x="0" y="58547"/>
                  </a:moveTo>
                  <a:cubicBezTo>
                    <a:pt x="0" y="26162"/>
                    <a:pt x="26162" y="0"/>
                    <a:pt x="58547" y="0"/>
                  </a:cubicBezTo>
                  <a:lnTo>
                    <a:pt x="5501513" y="0"/>
                  </a:lnTo>
                  <a:cubicBezTo>
                    <a:pt x="5533898" y="0"/>
                    <a:pt x="5560060" y="26162"/>
                    <a:pt x="5560060" y="58547"/>
                  </a:cubicBezTo>
                  <a:lnTo>
                    <a:pt x="5560060" y="1112393"/>
                  </a:lnTo>
                  <a:cubicBezTo>
                    <a:pt x="5560060" y="1144778"/>
                    <a:pt x="5533898" y="1170940"/>
                    <a:pt x="5501513" y="1170940"/>
                  </a:cubicBezTo>
                  <a:lnTo>
                    <a:pt x="58547" y="1170940"/>
                  </a:lnTo>
                  <a:cubicBezTo>
                    <a:pt x="26162" y="1170940"/>
                    <a:pt x="0" y="1144778"/>
                    <a:pt x="0" y="1112393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ADCFC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4932490" y="8439566"/>
            <a:ext cx="960039" cy="960039"/>
            <a:chOff x="0" y="0"/>
            <a:chExt cx="609600" cy="609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4909833" y="8504131"/>
            <a:ext cx="1005352" cy="80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7"/>
              </a:lnSpc>
            </a:pPr>
            <a:r>
              <a:rPr lang="en-US" sz="476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🚫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314945" y="8248011"/>
            <a:ext cx="6720270" cy="47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519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Sin duplicados de clave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314945" y="8910362"/>
            <a:ext cx="6720270" cy="777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Garantiza que cada elemento se cuente una sola vez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-22222" y="-22222"/>
            <a:ext cx="18332482" cy="2056162"/>
            <a:chOff x="0" y="0"/>
            <a:chExt cx="24443309" cy="274154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443310" cy="2741549"/>
            </a:xfrm>
            <a:custGeom>
              <a:avLst/>
              <a:gdLst/>
              <a:ahLst/>
              <a:cxnLst/>
              <a:rect r="r" b="b" t="t" l="l"/>
              <a:pathLst>
                <a:path h="2741549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2741549"/>
                  </a:lnTo>
                  <a:lnTo>
                    <a:pt x="0" y="2741549"/>
                  </a:lnTo>
                  <a:close/>
                </a:path>
              </a:pathLst>
            </a:custGeom>
            <a:solidFill>
              <a:srgbClr val="0F1B4C"/>
            </a:solidFill>
            <a:ln w="25400" cap="sq">
              <a:solidFill>
                <a:srgbClr val="0F1B4C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14400" y="0"/>
            <a:ext cx="16459200" cy="2011680"/>
            <a:chOff x="0" y="0"/>
            <a:chExt cx="21945600" cy="26822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945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312" r="0" b="-109312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06651" y="-1086250"/>
            <a:ext cx="16459200" cy="4104817"/>
            <a:chOff x="0" y="0"/>
            <a:chExt cx="21945600" cy="547308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945600" cy="5473089"/>
            </a:xfrm>
            <a:custGeom>
              <a:avLst/>
              <a:gdLst/>
              <a:ahLst/>
              <a:cxnLst/>
              <a:rect r="r" b="b" t="t" l="l"/>
              <a:pathLst>
                <a:path h="54730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473089"/>
                  </a:lnTo>
                  <a:lnTo>
                    <a:pt x="0" y="54730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538" r="0" b="-272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21945600" cy="54826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8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Uso de diccionario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1005840"/>
            <a:chOff x="0" y="0"/>
            <a:chExt cx="121920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F1B4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457200" y="191262"/>
            <a:ext cx="82296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Ejemplos de Ejecuciones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1005840"/>
            <a:ext cx="18288000" cy="9281160"/>
            <a:chOff x="0" y="0"/>
            <a:chExt cx="24384000" cy="12374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2374880"/>
            </a:xfrm>
            <a:custGeom>
              <a:avLst/>
              <a:gdLst/>
              <a:ahLst/>
              <a:cxnLst/>
              <a:rect r="r" b="b" t="t" l="l"/>
              <a:pathLst>
                <a:path h="123748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374880"/>
                  </a:lnTo>
                  <a:lnTo>
                    <a:pt x="0" y="12374880"/>
                  </a:lnTo>
                  <a:close/>
                </a:path>
              </a:pathLst>
            </a:custGeom>
            <a:solidFill>
              <a:srgbClr val="F0F4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85819" y="3357938"/>
            <a:ext cx="5314052" cy="2834161"/>
            <a:chOff x="0" y="0"/>
            <a:chExt cx="365760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77978"/>
                  </a:moveTo>
                  <a:cubicBezTo>
                    <a:pt x="0" y="34925"/>
                    <a:pt x="34925" y="0"/>
                    <a:pt x="77978" y="0"/>
                  </a:cubicBezTo>
                  <a:lnTo>
                    <a:pt x="3579622" y="0"/>
                  </a:lnTo>
                  <a:cubicBezTo>
                    <a:pt x="3622675" y="0"/>
                    <a:pt x="3657600" y="34925"/>
                    <a:pt x="3657600" y="77978"/>
                  </a:cubicBezTo>
                  <a:lnTo>
                    <a:pt x="3657600" y="1872742"/>
                  </a:lnTo>
                  <a:cubicBezTo>
                    <a:pt x="3657600" y="1915795"/>
                    <a:pt x="3622675" y="1950720"/>
                    <a:pt x="3579622" y="1950720"/>
                  </a:cubicBezTo>
                  <a:lnTo>
                    <a:pt x="77978" y="1950720"/>
                  </a:lnTo>
                  <a:cubicBezTo>
                    <a:pt x="34925" y="1950720"/>
                    <a:pt x="0" y="1915795"/>
                    <a:pt x="0" y="1872742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39713" y="4024885"/>
            <a:ext cx="5206265" cy="1621535"/>
            <a:chOff x="0" y="0"/>
            <a:chExt cx="3583411" cy="1116084"/>
          </a:xfrm>
        </p:grpSpPr>
        <p:sp>
          <p:nvSpPr>
            <p:cNvPr name="Freeform 10" id="10" descr="img1.jpeg"/>
            <p:cNvSpPr/>
            <p:nvPr/>
          </p:nvSpPr>
          <p:spPr>
            <a:xfrm flipH="false" flipV="false" rot="0">
              <a:off x="0" y="0"/>
              <a:ext cx="3583412" cy="1116084"/>
            </a:xfrm>
            <a:custGeom>
              <a:avLst/>
              <a:gdLst/>
              <a:ahLst/>
              <a:cxnLst/>
              <a:rect r="r" b="b" t="t" l="l"/>
              <a:pathLst>
                <a:path h="1116084" w="3583412">
                  <a:moveTo>
                    <a:pt x="0" y="0"/>
                  </a:moveTo>
                  <a:lnTo>
                    <a:pt x="3583412" y="0"/>
                  </a:lnTo>
                  <a:lnTo>
                    <a:pt x="3583412" y="1116084"/>
                  </a:lnTo>
                  <a:lnTo>
                    <a:pt x="0" y="1116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387" t="-51527" r="-42945" b="-451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85819" y="6298380"/>
            <a:ext cx="5314052" cy="584546"/>
            <a:chOff x="0" y="0"/>
            <a:chExt cx="3657600" cy="4023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57600" cy="402336"/>
            </a:xfrm>
            <a:custGeom>
              <a:avLst/>
              <a:gdLst/>
              <a:ahLst/>
              <a:cxnLst/>
              <a:rect r="r" b="b" t="t" l="l"/>
              <a:pathLst>
                <a:path h="40233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86949" y="6339323"/>
            <a:ext cx="4711793" cy="45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84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Consulta 1 — Comparación de tiempos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6949" y="7012436"/>
            <a:ext cx="4711793" cy="146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84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Ejecuta ambos métodos cronometrados.</a:t>
            </a:r>
          </a:p>
          <a:p>
            <a:pPr algn="l">
              <a:lnSpc>
                <a:spcPts val="2208"/>
              </a:lnSpc>
            </a:pPr>
            <a:r>
              <a:rPr lang="en-US" sz="184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En datasets pequeños ambos marcan 0 ms.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31277" y="3357938"/>
            <a:ext cx="5314052" cy="2834161"/>
            <a:chOff x="0" y="0"/>
            <a:chExt cx="3657600" cy="1950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77978"/>
                  </a:moveTo>
                  <a:cubicBezTo>
                    <a:pt x="0" y="34925"/>
                    <a:pt x="34925" y="0"/>
                    <a:pt x="77978" y="0"/>
                  </a:cubicBezTo>
                  <a:lnTo>
                    <a:pt x="3579622" y="0"/>
                  </a:lnTo>
                  <a:cubicBezTo>
                    <a:pt x="3622675" y="0"/>
                    <a:pt x="3657600" y="34925"/>
                    <a:pt x="3657600" y="77978"/>
                  </a:cubicBezTo>
                  <a:lnTo>
                    <a:pt x="3657600" y="1872742"/>
                  </a:lnTo>
                  <a:cubicBezTo>
                    <a:pt x="3657600" y="1915795"/>
                    <a:pt x="3622675" y="1950720"/>
                    <a:pt x="3579622" y="1950720"/>
                  </a:cubicBezTo>
                  <a:lnTo>
                    <a:pt x="77978" y="1950720"/>
                  </a:lnTo>
                  <a:cubicBezTo>
                    <a:pt x="34925" y="1950720"/>
                    <a:pt x="0" y="1915795"/>
                    <a:pt x="0" y="1872742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637558" y="3464219"/>
            <a:ext cx="5101490" cy="2621599"/>
            <a:chOff x="0" y="0"/>
            <a:chExt cx="3511296" cy="1804416"/>
          </a:xfrm>
        </p:grpSpPr>
        <p:sp>
          <p:nvSpPr>
            <p:cNvPr name="Freeform 18" id="18" descr="img2.jpeg"/>
            <p:cNvSpPr/>
            <p:nvPr/>
          </p:nvSpPr>
          <p:spPr>
            <a:xfrm flipH="false" flipV="false" rot="0">
              <a:off x="0" y="0"/>
              <a:ext cx="3511296" cy="1804416"/>
            </a:xfrm>
            <a:custGeom>
              <a:avLst/>
              <a:gdLst/>
              <a:ahLst/>
              <a:cxnLst/>
              <a:rect r="r" b="b" t="t" l="l"/>
              <a:pathLst>
                <a:path h="1804416" w="3511296">
                  <a:moveTo>
                    <a:pt x="0" y="0"/>
                  </a:moveTo>
                  <a:lnTo>
                    <a:pt x="3511296" y="0"/>
                  </a:lnTo>
                  <a:lnTo>
                    <a:pt x="3511296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717" t="-31912" r="0" b="-4966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531277" y="6298380"/>
            <a:ext cx="5314052" cy="584546"/>
            <a:chOff x="0" y="0"/>
            <a:chExt cx="3657600" cy="4023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57600" cy="402336"/>
            </a:xfrm>
            <a:custGeom>
              <a:avLst/>
              <a:gdLst/>
              <a:ahLst/>
              <a:cxnLst/>
              <a:rect r="r" b="b" t="t" l="l"/>
              <a:pathLst>
                <a:path h="40233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832406" y="6339323"/>
            <a:ext cx="4711793" cy="45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84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Consulta 2 — Camino a la hoja izquierda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32406" y="7012436"/>
            <a:ext cx="4711793" cy="146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84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Recorre el Heap desde la raíz</a:t>
            </a:r>
          </a:p>
          <a:p>
            <a:pPr algn="l">
              <a:lnSpc>
                <a:spcPts val="2208"/>
              </a:lnSpc>
            </a:pPr>
            <a:r>
              <a:rPr lang="en-US" sz="184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siempre por el hijo izquierdo.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288167" y="3357938"/>
            <a:ext cx="5314052" cy="2834161"/>
            <a:chOff x="0" y="0"/>
            <a:chExt cx="3657600" cy="1950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77978"/>
                  </a:moveTo>
                  <a:cubicBezTo>
                    <a:pt x="0" y="34925"/>
                    <a:pt x="34925" y="0"/>
                    <a:pt x="77978" y="0"/>
                  </a:cubicBezTo>
                  <a:lnTo>
                    <a:pt x="3579622" y="0"/>
                  </a:lnTo>
                  <a:cubicBezTo>
                    <a:pt x="3622675" y="0"/>
                    <a:pt x="3657600" y="34925"/>
                    <a:pt x="3657600" y="77978"/>
                  </a:cubicBezTo>
                  <a:lnTo>
                    <a:pt x="3657600" y="1872742"/>
                  </a:lnTo>
                  <a:cubicBezTo>
                    <a:pt x="3657600" y="1915795"/>
                    <a:pt x="3622675" y="1950720"/>
                    <a:pt x="3579622" y="1950720"/>
                  </a:cubicBezTo>
                  <a:lnTo>
                    <a:pt x="77978" y="1950720"/>
                  </a:lnTo>
                  <a:cubicBezTo>
                    <a:pt x="34925" y="1950720"/>
                    <a:pt x="0" y="1915795"/>
                    <a:pt x="0" y="1872742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394448" y="3464219"/>
            <a:ext cx="5101490" cy="2621599"/>
            <a:chOff x="0" y="0"/>
            <a:chExt cx="3511296" cy="1804416"/>
          </a:xfrm>
        </p:grpSpPr>
        <p:sp>
          <p:nvSpPr>
            <p:cNvPr name="Freeform 26" id="26" descr="img3.jpeg"/>
            <p:cNvSpPr/>
            <p:nvPr/>
          </p:nvSpPr>
          <p:spPr>
            <a:xfrm flipH="false" flipV="false" rot="0">
              <a:off x="0" y="0"/>
              <a:ext cx="3511296" cy="1804416"/>
            </a:xfrm>
            <a:custGeom>
              <a:avLst/>
              <a:gdLst/>
              <a:ahLst/>
              <a:cxnLst/>
              <a:rect r="r" b="b" t="t" l="l"/>
              <a:pathLst>
                <a:path h="1804416" w="3511296">
                  <a:moveTo>
                    <a:pt x="0" y="0"/>
                  </a:moveTo>
                  <a:lnTo>
                    <a:pt x="3511296" y="0"/>
                  </a:lnTo>
                  <a:lnTo>
                    <a:pt x="3511296" y="1804416"/>
                  </a:lnTo>
                  <a:lnTo>
                    <a:pt x="0" y="180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229" r="0" b="-16229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288167" y="6298380"/>
            <a:ext cx="5314052" cy="584546"/>
            <a:chOff x="0" y="0"/>
            <a:chExt cx="3657600" cy="4023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57600" cy="402336"/>
            </a:xfrm>
            <a:custGeom>
              <a:avLst/>
              <a:gdLst/>
              <a:ahLst/>
              <a:cxnLst/>
              <a:rect r="r" b="b" t="t" l="l"/>
              <a:pathLst>
                <a:path h="40233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589296" y="6339323"/>
            <a:ext cx="4711793" cy="45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84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Consulta 3 — Heap por niveles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89296" y="7012436"/>
            <a:ext cx="4711793" cy="146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84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Muestra todos los nodos del Heap</a:t>
            </a:r>
          </a:p>
          <a:p>
            <a:pPr algn="l">
              <a:lnSpc>
                <a:spcPts val="2208"/>
              </a:lnSpc>
            </a:pPr>
            <a:r>
              <a:rPr lang="en-US" sz="1840">
                <a:solidFill>
                  <a:srgbClr val="475569"/>
                </a:solidFill>
                <a:latin typeface="Calibri (MS)"/>
                <a:ea typeface="Calibri (MS)"/>
                <a:cs typeface="Calibri (MS)"/>
                <a:sym typeface="Calibri (MS)"/>
              </a:rPr>
              <a:t>indicando el nivel de cada uno.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-22222" y="-22222"/>
            <a:ext cx="18332482" cy="2056162"/>
            <a:chOff x="0" y="0"/>
            <a:chExt cx="24443309" cy="274154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443310" cy="2741549"/>
            </a:xfrm>
            <a:custGeom>
              <a:avLst/>
              <a:gdLst/>
              <a:ahLst/>
              <a:cxnLst/>
              <a:rect r="r" b="b" t="t" l="l"/>
              <a:pathLst>
                <a:path h="2741549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2741549"/>
                  </a:lnTo>
                  <a:lnTo>
                    <a:pt x="0" y="2741549"/>
                  </a:lnTo>
                  <a:close/>
                </a:path>
              </a:pathLst>
            </a:custGeom>
            <a:solidFill>
              <a:srgbClr val="0F1B4C"/>
            </a:solidFill>
            <a:ln w="25400" cap="sq">
              <a:solidFill>
                <a:srgbClr val="0F1B4C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14400" y="0"/>
            <a:ext cx="16459200" cy="2011680"/>
            <a:chOff x="0" y="0"/>
            <a:chExt cx="21945600" cy="26822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945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9312" r="0" b="-109312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85819" y="-1051679"/>
            <a:ext cx="16459200" cy="4104817"/>
            <a:chOff x="0" y="0"/>
            <a:chExt cx="21945600" cy="547308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45600" cy="5473089"/>
            </a:xfrm>
            <a:custGeom>
              <a:avLst/>
              <a:gdLst/>
              <a:ahLst/>
              <a:cxnLst/>
              <a:rect r="r" b="b" t="t" l="l"/>
              <a:pathLst>
                <a:path h="54730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473089"/>
                  </a:lnTo>
                  <a:lnTo>
                    <a:pt x="0" y="547308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3538" r="0" b="-272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21945600" cy="54826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8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Ejemplos de ejecucción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79378" y="-1485262"/>
            <a:ext cx="8274082" cy="8274082"/>
          </a:xfrm>
          <a:custGeom>
            <a:avLst/>
            <a:gdLst/>
            <a:ahLst/>
            <a:cxnLst/>
            <a:rect r="r" b="b" t="t" l="l"/>
            <a:pathLst>
              <a:path h="8274082" w="8274082">
                <a:moveTo>
                  <a:pt x="0" y="0"/>
                </a:moveTo>
                <a:lnTo>
                  <a:pt x="8274082" y="0"/>
                </a:lnTo>
                <a:lnTo>
                  <a:pt x="8274082" y="8274082"/>
                </a:lnTo>
                <a:lnTo>
                  <a:pt x="0" y="82740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51022" y="6378578"/>
            <a:ext cx="6445282" cy="6445282"/>
          </a:xfrm>
          <a:custGeom>
            <a:avLst/>
            <a:gdLst/>
            <a:ahLst/>
            <a:cxnLst/>
            <a:rect r="r" b="b" t="t" l="l"/>
            <a:pathLst>
              <a:path h="6445282" w="6445282">
                <a:moveTo>
                  <a:pt x="0" y="0"/>
                </a:moveTo>
                <a:lnTo>
                  <a:pt x="6445282" y="0"/>
                </a:lnTo>
                <a:lnTo>
                  <a:pt x="6445282" y="6445282"/>
                </a:lnTo>
                <a:lnTo>
                  <a:pt x="0" y="6445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14400" y="640080"/>
            <a:ext cx="16459200" cy="1188720"/>
            <a:chOff x="0" y="0"/>
            <a:chExt cx="219456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19604" r="0" b="-21960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632936"/>
            <a:ext cx="16459200" cy="1195864"/>
            <a:chOff x="0" y="0"/>
            <a:chExt cx="21945600" cy="15944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594485"/>
            </a:xfrm>
            <a:custGeom>
              <a:avLst/>
              <a:gdLst/>
              <a:ahLst/>
              <a:cxnLst/>
              <a:rect r="r" b="b" t="t" l="l"/>
              <a:pathLst>
                <a:path h="159448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94485"/>
                  </a:lnTo>
                  <a:lnTo>
                    <a:pt x="0" y="159448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8181" r="0" b="-21818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94560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Conclusiones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92178" y="2080898"/>
            <a:ext cx="16503587" cy="1653730"/>
          </a:xfrm>
          <a:custGeom>
            <a:avLst/>
            <a:gdLst/>
            <a:ahLst/>
            <a:cxnLst/>
            <a:rect r="r" b="b" t="t" l="l"/>
            <a:pathLst>
              <a:path h="1653730" w="16503587">
                <a:moveTo>
                  <a:pt x="0" y="0"/>
                </a:moveTo>
                <a:lnTo>
                  <a:pt x="16503587" y="0"/>
                </a:lnTo>
                <a:lnTo>
                  <a:pt x="16503587" y="1653731"/>
                </a:lnTo>
                <a:lnTo>
                  <a:pt x="0" y="165373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88720" y="2322576"/>
            <a:ext cx="914400" cy="1005840"/>
            <a:chOff x="0" y="0"/>
            <a:chExt cx="1219200" cy="134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19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91232" t="0" r="-91232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8720" y="2265426"/>
            <a:ext cx="914400" cy="1062990"/>
            <a:chOff x="0" y="0"/>
            <a:chExt cx="1219200" cy="14173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19200" cy="1417320"/>
            </a:xfrm>
            <a:custGeom>
              <a:avLst/>
              <a:gdLst/>
              <a:ahLst/>
              <a:cxnLst/>
              <a:rect r="r" b="b" t="t" l="l"/>
              <a:pathLst>
                <a:path h="14173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99152" t="0" r="-99152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1219200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286000" y="2249424"/>
            <a:ext cx="14447520" cy="548640"/>
            <a:chOff x="0" y="0"/>
            <a:chExt cx="1926336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263361" cy="731520"/>
            </a:xfrm>
            <a:custGeom>
              <a:avLst/>
              <a:gdLst/>
              <a:ahLst/>
              <a:cxnLst/>
              <a:rect r="r" b="b" t="t" l="l"/>
              <a:pathLst>
                <a:path h="73152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62750" r="0" b="-462748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286000" y="2206562"/>
            <a:ext cx="14447520" cy="591502"/>
            <a:chOff x="0" y="0"/>
            <a:chExt cx="19263360" cy="788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263361" cy="788670"/>
            </a:xfrm>
            <a:custGeom>
              <a:avLst/>
              <a:gdLst/>
              <a:ahLst/>
              <a:cxnLst/>
              <a:rect r="r" b="b" t="t" l="l"/>
              <a:pathLst>
                <a:path h="78867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88670"/>
                  </a:lnTo>
                  <a:lnTo>
                    <a:pt x="0" y="7886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25924" r="0" b="-42592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9263360" cy="845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 Max-Heap supera al ordenamiento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286000" y="2871216"/>
            <a:ext cx="14447520" cy="548640"/>
            <a:chOff x="0" y="0"/>
            <a:chExt cx="1926336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263361" cy="731520"/>
            </a:xfrm>
            <a:custGeom>
              <a:avLst/>
              <a:gdLst/>
              <a:ahLst/>
              <a:cxnLst/>
              <a:rect r="r" b="b" t="t" l="l"/>
              <a:pathLst>
                <a:path h="73152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62750" r="0" b="-462748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286000" y="2835497"/>
            <a:ext cx="14447520" cy="584359"/>
            <a:chOff x="0" y="0"/>
            <a:chExt cx="19263360" cy="77914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263361" cy="779145"/>
            </a:xfrm>
            <a:custGeom>
              <a:avLst/>
              <a:gdLst/>
              <a:ahLst/>
              <a:cxnLst/>
              <a:rect r="r" b="b" t="t" l="l"/>
              <a:pathLst>
                <a:path h="779145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31742" r="0" b="-43174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9263360" cy="82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O(n log n) vs O(n²) — ventaja clara en grandes datasets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892178" y="4001138"/>
            <a:ext cx="16503587" cy="1653731"/>
          </a:xfrm>
          <a:custGeom>
            <a:avLst/>
            <a:gdLst/>
            <a:ahLst/>
            <a:cxnLst/>
            <a:rect r="r" b="b" t="t" l="l"/>
            <a:pathLst>
              <a:path h="1653731" w="16503587">
                <a:moveTo>
                  <a:pt x="0" y="0"/>
                </a:moveTo>
                <a:lnTo>
                  <a:pt x="16503587" y="0"/>
                </a:lnTo>
                <a:lnTo>
                  <a:pt x="16503587" y="1653731"/>
                </a:lnTo>
                <a:lnTo>
                  <a:pt x="0" y="165373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188720" y="4242816"/>
            <a:ext cx="914400" cy="1005840"/>
            <a:chOff x="0" y="0"/>
            <a:chExt cx="1219200" cy="1341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19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91232" t="0" r="-9123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88720" y="4185666"/>
            <a:ext cx="914400" cy="1062990"/>
            <a:chOff x="0" y="0"/>
            <a:chExt cx="1219200" cy="14173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19200" cy="1417320"/>
            </a:xfrm>
            <a:custGeom>
              <a:avLst/>
              <a:gdLst/>
              <a:ahLst/>
              <a:cxnLst/>
              <a:rect r="r" b="b" t="t" l="l"/>
              <a:pathLst>
                <a:path h="14173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99152" t="0" r="-99152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76200"/>
              <a:ext cx="1219200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🧩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286000" y="4169664"/>
            <a:ext cx="14447520" cy="548640"/>
            <a:chOff x="0" y="0"/>
            <a:chExt cx="1926336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263361" cy="731520"/>
            </a:xfrm>
            <a:custGeom>
              <a:avLst/>
              <a:gdLst/>
              <a:ahLst/>
              <a:cxnLst/>
              <a:rect r="r" b="b" t="t" l="l"/>
              <a:pathLst>
                <a:path h="73152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62750" r="0" b="-462748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2286000" y="4126802"/>
            <a:ext cx="14447520" cy="591502"/>
            <a:chOff x="0" y="0"/>
            <a:chExt cx="19263360" cy="7886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263361" cy="788670"/>
            </a:xfrm>
            <a:custGeom>
              <a:avLst/>
              <a:gdLst/>
              <a:ahLst/>
              <a:cxnLst/>
              <a:rect r="r" b="b" t="t" l="l"/>
              <a:pathLst>
                <a:path h="78867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88670"/>
                  </a:lnTo>
                  <a:lnTo>
                    <a:pt x="0" y="7886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25924" r="0" b="-42592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9263360" cy="845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Integración de estructuras clave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286000" y="4791456"/>
            <a:ext cx="14447520" cy="548640"/>
            <a:chOff x="0" y="0"/>
            <a:chExt cx="1926336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263361" cy="731520"/>
            </a:xfrm>
            <a:custGeom>
              <a:avLst/>
              <a:gdLst/>
              <a:ahLst/>
              <a:cxnLst/>
              <a:rect r="r" b="b" t="t" l="l"/>
              <a:pathLst>
                <a:path h="73152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62750" r="0" b="-462748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286000" y="4755737"/>
            <a:ext cx="14447520" cy="584359"/>
            <a:chOff x="0" y="0"/>
            <a:chExt cx="19263360" cy="77914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263361" cy="779145"/>
            </a:xfrm>
            <a:custGeom>
              <a:avLst/>
              <a:gdLst/>
              <a:ahLst/>
              <a:cxnLst/>
              <a:rect r="r" b="b" t="t" l="l"/>
              <a:pathLst>
                <a:path h="779145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31742" r="0" b="-43174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9263360" cy="82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Heap, Dictionary y List trabajando en conjunto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892178" y="5921378"/>
            <a:ext cx="16503587" cy="1653731"/>
          </a:xfrm>
          <a:custGeom>
            <a:avLst/>
            <a:gdLst/>
            <a:ahLst/>
            <a:cxnLst/>
            <a:rect r="r" b="b" t="t" l="l"/>
            <a:pathLst>
              <a:path h="1653731" w="16503587">
                <a:moveTo>
                  <a:pt x="0" y="0"/>
                </a:moveTo>
                <a:lnTo>
                  <a:pt x="16503587" y="0"/>
                </a:lnTo>
                <a:lnTo>
                  <a:pt x="16503587" y="1653731"/>
                </a:lnTo>
                <a:lnTo>
                  <a:pt x="0" y="165373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188720" y="6163056"/>
            <a:ext cx="914400" cy="1005840"/>
            <a:chOff x="0" y="0"/>
            <a:chExt cx="1219200" cy="13411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19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91232" t="0" r="-91232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88720" y="6105906"/>
            <a:ext cx="914400" cy="1062990"/>
            <a:chOff x="0" y="0"/>
            <a:chExt cx="1219200" cy="14173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19200" cy="1417320"/>
            </a:xfrm>
            <a:custGeom>
              <a:avLst/>
              <a:gdLst/>
              <a:ahLst/>
              <a:cxnLst/>
              <a:rect r="r" b="b" t="t" l="l"/>
              <a:pathLst>
                <a:path h="14173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99152" t="0" r="-99152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76200"/>
              <a:ext cx="1219200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📈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286000" y="6089904"/>
            <a:ext cx="14447520" cy="548640"/>
            <a:chOff x="0" y="0"/>
            <a:chExt cx="1926336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263361" cy="731520"/>
            </a:xfrm>
            <a:custGeom>
              <a:avLst/>
              <a:gdLst/>
              <a:ahLst/>
              <a:cxnLst/>
              <a:rect r="r" b="b" t="t" l="l"/>
              <a:pathLst>
                <a:path h="73152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62750" r="0" b="-462748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2286000" y="6047042"/>
            <a:ext cx="14447520" cy="591502"/>
            <a:chOff x="0" y="0"/>
            <a:chExt cx="19263360" cy="78867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9263361" cy="788670"/>
            </a:xfrm>
            <a:custGeom>
              <a:avLst/>
              <a:gdLst/>
              <a:ahLst/>
              <a:cxnLst/>
              <a:rect r="r" b="b" t="t" l="l"/>
              <a:pathLst>
                <a:path h="78867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88670"/>
                  </a:lnTo>
                  <a:lnTo>
                    <a:pt x="0" y="7886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25924" r="0" b="-42592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19263360" cy="845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Medición objetiva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286000" y="6711696"/>
            <a:ext cx="14447520" cy="548640"/>
            <a:chOff x="0" y="0"/>
            <a:chExt cx="1926336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263361" cy="731520"/>
            </a:xfrm>
            <a:custGeom>
              <a:avLst/>
              <a:gdLst/>
              <a:ahLst/>
              <a:cxnLst/>
              <a:rect r="r" b="b" t="t" l="l"/>
              <a:pathLst>
                <a:path h="73152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62750" r="0" b="-462748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2286000" y="6675977"/>
            <a:ext cx="14447520" cy="584359"/>
            <a:chOff x="0" y="0"/>
            <a:chExt cx="19263360" cy="77914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9263361" cy="779145"/>
            </a:xfrm>
            <a:custGeom>
              <a:avLst/>
              <a:gdLst/>
              <a:ahLst/>
              <a:cxnLst/>
              <a:rect r="r" b="b" t="t" l="l"/>
              <a:pathLst>
                <a:path h="779145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31742" r="0" b="-43174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19263360" cy="82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Consulta1 permite comparar ambos métodos con datos reales</a:t>
              </a: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892178" y="7841618"/>
            <a:ext cx="16503587" cy="1653731"/>
          </a:xfrm>
          <a:custGeom>
            <a:avLst/>
            <a:gdLst/>
            <a:ahLst/>
            <a:cxnLst/>
            <a:rect r="r" b="b" t="t" l="l"/>
            <a:pathLst>
              <a:path h="1653731" w="16503587">
                <a:moveTo>
                  <a:pt x="0" y="0"/>
                </a:moveTo>
                <a:lnTo>
                  <a:pt x="16503587" y="0"/>
                </a:lnTo>
                <a:lnTo>
                  <a:pt x="16503587" y="1653731"/>
                </a:lnTo>
                <a:lnTo>
                  <a:pt x="0" y="165373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1188720" y="8083296"/>
            <a:ext cx="914400" cy="1005840"/>
            <a:chOff x="0" y="0"/>
            <a:chExt cx="1219200" cy="13411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19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91232" t="0" r="-91232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88720" y="8026146"/>
            <a:ext cx="914400" cy="1062990"/>
            <a:chOff x="0" y="0"/>
            <a:chExt cx="1219200" cy="14173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219200" cy="1417320"/>
            </a:xfrm>
            <a:custGeom>
              <a:avLst/>
              <a:gdLst/>
              <a:ahLst/>
              <a:cxnLst/>
              <a:rect r="r" b="b" t="t" l="l"/>
              <a:pathLst>
                <a:path h="14173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99152" t="0" r="-99152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76200"/>
              <a:ext cx="1219200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🌲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2286000" y="8010144"/>
            <a:ext cx="14447520" cy="548640"/>
            <a:chOff x="0" y="0"/>
            <a:chExt cx="19263360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9263361" cy="731520"/>
            </a:xfrm>
            <a:custGeom>
              <a:avLst/>
              <a:gdLst/>
              <a:ahLst/>
              <a:cxnLst/>
              <a:rect r="r" b="b" t="t" l="l"/>
              <a:pathLst>
                <a:path h="73152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62750" r="0" b="-462748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2286000" y="7967282"/>
            <a:ext cx="14447520" cy="591502"/>
            <a:chOff x="0" y="0"/>
            <a:chExt cx="19263360" cy="78867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9263361" cy="788670"/>
            </a:xfrm>
            <a:custGeom>
              <a:avLst/>
              <a:gdLst/>
              <a:ahLst/>
              <a:cxnLst/>
              <a:rect r="r" b="b" t="t" l="l"/>
              <a:pathLst>
                <a:path h="78867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88670"/>
                  </a:lnTo>
                  <a:lnTo>
                    <a:pt x="0" y="7886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25924" r="0" b="-42592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19263360" cy="845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Visualización del Heap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2286000" y="8631936"/>
            <a:ext cx="14447520" cy="548640"/>
            <a:chOff x="0" y="0"/>
            <a:chExt cx="1926336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9263361" cy="731520"/>
            </a:xfrm>
            <a:custGeom>
              <a:avLst/>
              <a:gdLst/>
              <a:ahLst/>
              <a:cxnLst/>
              <a:rect r="r" b="b" t="t" l="l"/>
              <a:pathLst>
                <a:path h="73152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62750" r="0" b="-462748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2286000" y="8596217"/>
            <a:ext cx="14447520" cy="584359"/>
            <a:chOff x="0" y="0"/>
            <a:chExt cx="19263360" cy="77914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9263361" cy="779145"/>
            </a:xfrm>
            <a:custGeom>
              <a:avLst/>
              <a:gdLst/>
              <a:ahLst/>
              <a:cxnLst/>
              <a:rect r="r" b="b" t="t" l="l"/>
              <a:pathLst>
                <a:path h="779145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31742" r="0" b="-431742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19263360" cy="82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Consulta2 y Consulta3 revelan la estructura interna del árbol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DAHM4OJQNCE</dc:identifier>
  <dcterms:modified xsi:type="dcterms:W3CDTF">2011-08-01T06:04:30Z</dcterms:modified>
  <cp:revision>1</cp:revision>
  <dc:title>TP_Final_Estrategia_v2 (3).pptx</dc:title>
</cp:coreProperties>
</file>