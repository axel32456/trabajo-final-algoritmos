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Calibri (MS) Bold" charset="1" panose="020F0702030404030204"/>
      <p:regular r:id="rId18"/>
    </p:embeddedFont>
    <p:embeddedFont>
      <p:font typeface="Cambria Bold" charset="1" panose="02040803050406030204"/>
      <p:regular r:id="rId19"/>
    </p:embeddedFont>
    <p:embeddedFont>
      <p:font typeface="Calibri (MS) Italics" charset="1" panose="020F05020202040A0204"/>
      <p:regular r:id="rId20"/>
    </p:embeddedFont>
    <p:embeddedFont>
      <p:font typeface="Calibri (MS)" charset="1" panose="020F050202020403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notesMasters/notesMaster1.xml" Type="http://schemas.openxmlformats.org/officeDocument/2006/relationships/notesMaster"/><Relationship Id="rId16" Target="theme/theme2.xml" Type="http://schemas.openxmlformats.org/officeDocument/2006/relationships/theme"/><Relationship Id="rId17" Target="notesSlides/notesSlide1.xml" Type="http://schemas.openxmlformats.org/officeDocument/2006/relationships/notes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notesSlides/notesSlide2.xml" Type="http://schemas.openxmlformats.org/officeDocument/2006/relationships/notesSlide"/><Relationship Id="rId23" Target="notesSlides/notesSlide3.xml" Type="http://schemas.openxmlformats.org/officeDocument/2006/relationships/notesSlide"/><Relationship Id="rId24" Target="notesSlides/notesSlide4.xml" Type="http://schemas.openxmlformats.org/officeDocument/2006/relationships/notesSlide"/><Relationship Id="rId25" Target="notesSlides/notesSlide5.xml" Type="http://schemas.openxmlformats.org/officeDocument/2006/relationships/notesSlide"/><Relationship Id="rId26" Target="notesSlides/notesSlide6.xml" Type="http://schemas.openxmlformats.org/officeDocument/2006/relationships/notesSlide"/><Relationship Id="rId27" Target="notesSlides/notesSlide7.xml" Type="http://schemas.openxmlformats.org/officeDocument/2006/relationships/notesSlide"/><Relationship Id="rId28" Target="notesSlides/notesSlide8.xml" Type="http://schemas.openxmlformats.org/officeDocument/2006/relationships/notesSlide"/><Relationship Id="rId29" Target="notesSlides/notesSlide9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874503" y="-2207257"/>
            <a:ext cx="10083803" cy="10083803"/>
            <a:chOff x="0" y="0"/>
            <a:chExt cx="13445071" cy="134450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444982" cy="13444982"/>
            </a:xfrm>
            <a:custGeom>
              <a:avLst/>
              <a:gdLst/>
              <a:ahLst/>
              <a:cxnLst/>
              <a:rect r="r" b="b" t="t" l="l"/>
              <a:pathLst>
                <a:path h="13444982" w="13444982">
                  <a:moveTo>
                    <a:pt x="0" y="6722491"/>
                  </a:moveTo>
                  <a:cubicBezTo>
                    <a:pt x="0" y="3009773"/>
                    <a:pt x="3009773" y="0"/>
                    <a:pt x="6722491" y="0"/>
                  </a:cubicBezTo>
                  <a:cubicBezTo>
                    <a:pt x="10435210" y="0"/>
                    <a:pt x="13444982" y="3009773"/>
                    <a:pt x="13444982" y="6722491"/>
                  </a:cubicBezTo>
                  <a:cubicBezTo>
                    <a:pt x="13444982" y="10435210"/>
                    <a:pt x="10435210" y="13444982"/>
                    <a:pt x="6722491" y="13444982"/>
                  </a:cubicBezTo>
                  <a:cubicBezTo>
                    <a:pt x="3009773" y="13444982"/>
                    <a:pt x="0" y="10435336"/>
                    <a:pt x="0" y="6722491"/>
                  </a:cubicBezTo>
                  <a:close/>
                </a:path>
              </a:pathLst>
            </a:custGeom>
            <a:solidFill>
              <a:srgbClr val="3A5199">
                <a:alpha val="15686"/>
              </a:srgbClr>
            </a:solidFill>
            <a:ln w="25400" cap="sq">
              <a:solidFill>
                <a:srgbClr val="3A5199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4251943" y="4559303"/>
            <a:ext cx="5511803" cy="5511803"/>
            <a:chOff x="0" y="0"/>
            <a:chExt cx="7349071" cy="734907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349109" cy="7349109"/>
            </a:xfrm>
            <a:custGeom>
              <a:avLst/>
              <a:gdLst/>
              <a:ahLst/>
              <a:cxnLst/>
              <a:rect r="r" b="b" t="t" l="l"/>
              <a:pathLst>
                <a:path h="7349109" w="7349109">
                  <a:moveTo>
                    <a:pt x="0" y="3674491"/>
                  </a:moveTo>
                  <a:cubicBezTo>
                    <a:pt x="0" y="1645158"/>
                    <a:pt x="1645158" y="0"/>
                    <a:pt x="3674491" y="0"/>
                  </a:cubicBezTo>
                  <a:cubicBezTo>
                    <a:pt x="5703824" y="0"/>
                    <a:pt x="7349109" y="1645158"/>
                    <a:pt x="7349109" y="3674491"/>
                  </a:cubicBezTo>
                  <a:cubicBezTo>
                    <a:pt x="7349109" y="5703824"/>
                    <a:pt x="5703951" y="7349109"/>
                    <a:pt x="3674491" y="7349109"/>
                  </a:cubicBezTo>
                  <a:cubicBezTo>
                    <a:pt x="1645031" y="7349109"/>
                    <a:pt x="0" y="5703951"/>
                    <a:pt x="0" y="3674491"/>
                  </a:cubicBezTo>
                  <a:close/>
                </a:path>
              </a:pathLst>
            </a:custGeom>
            <a:solidFill>
              <a:srgbClr val="F9A825">
                <a:alpha val="3922"/>
              </a:srgbClr>
            </a:solidFill>
            <a:ln w="25400" cap="sq">
              <a:solidFill>
                <a:srgbClr val="F9A825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901703" y="901703"/>
            <a:ext cx="5877563" cy="720347"/>
            <a:chOff x="0" y="0"/>
            <a:chExt cx="7836751" cy="96046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836789" cy="960501"/>
            </a:xfrm>
            <a:custGeom>
              <a:avLst/>
              <a:gdLst/>
              <a:ahLst/>
              <a:cxnLst/>
              <a:rect r="r" b="b" t="t" l="l"/>
              <a:pathLst>
                <a:path h="960501" w="7836789">
                  <a:moveTo>
                    <a:pt x="0" y="126365"/>
                  </a:moveTo>
                  <a:cubicBezTo>
                    <a:pt x="0" y="56642"/>
                    <a:pt x="56642" y="0"/>
                    <a:pt x="126365" y="0"/>
                  </a:cubicBezTo>
                  <a:lnTo>
                    <a:pt x="7710424" y="0"/>
                  </a:lnTo>
                  <a:cubicBezTo>
                    <a:pt x="7780274" y="0"/>
                    <a:pt x="7836789" y="56642"/>
                    <a:pt x="7836789" y="126365"/>
                  </a:cubicBezTo>
                  <a:lnTo>
                    <a:pt x="7836789" y="834136"/>
                  </a:lnTo>
                  <a:cubicBezTo>
                    <a:pt x="7836789" y="903986"/>
                    <a:pt x="7780147" y="960501"/>
                    <a:pt x="7710424" y="960501"/>
                  </a:cubicBezTo>
                  <a:lnTo>
                    <a:pt x="126365" y="960501"/>
                  </a:lnTo>
                  <a:cubicBezTo>
                    <a:pt x="56642" y="960501"/>
                    <a:pt x="0" y="903859"/>
                    <a:pt x="0" y="834136"/>
                  </a:cubicBezTo>
                  <a:close/>
                </a:path>
              </a:pathLst>
            </a:custGeom>
            <a:solidFill>
              <a:srgbClr val="F9A825"/>
            </a:solidFill>
            <a:ln w="25400" cap="sq">
              <a:solidFill>
                <a:srgbClr val="F9A825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914400"/>
            <a:ext cx="5852160" cy="694944"/>
            <a:chOff x="0" y="0"/>
            <a:chExt cx="7802880" cy="92659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802880" cy="926592"/>
            </a:xfrm>
            <a:custGeom>
              <a:avLst/>
              <a:gdLst/>
              <a:ahLst/>
              <a:cxnLst/>
              <a:rect r="r" b="b" t="t" l="l"/>
              <a:pathLst>
                <a:path h="926592" w="7802880">
                  <a:moveTo>
                    <a:pt x="0" y="0"/>
                  </a:moveTo>
                  <a:lnTo>
                    <a:pt x="7802880" y="0"/>
                  </a:lnTo>
                  <a:lnTo>
                    <a:pt x="780288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4084" r="0" b="-11408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7802880" cy="9551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79"/>
                </a:lnSpc>
              </a:pPr>
              <a:r>
                <a:rPr lang="en-US" sz="1399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ALGORITMOS Y ESTRUCTURAS DE DATOS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14400" y="2011680"/>
            <a:ext cx="13716000" cy="4389120"/>
            <a:chOff x="0" y="0"/>
            <a:chExt cx="18288000" cy="58521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8288000" cy="5852160"/>
            </a:xfrm>
            <a:custGeom>
              <a:avLst/>
              <a:gdLst/>
              <a:ahLst/>
              <a:cxnLst/>
              <a:rect r="r" b="b" t="t" l="l"/>
              <a:pathLst>
                <a:path h="585216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5852160"/>
                  </a:lnTo>
                  <a:lnTo>
                    <a:pt x="0" y="5852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890" r="0" b="-1089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18288000" cy="58616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0080"/>
                </a:lnSpc>
              </a:pPr>
              <a:r>
                <a:rPr lang="en-US" sz="84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Buscador de</a:t>
              </a:r>
            </a:p>
            <a:p>
              <a:pPr algn="l">
                <a:lnSpc>
                  <a:spcPts val="10080"/>
                </a:lnSpc>
              </a:pPr>
              <a:r>
                <a:rPr lang="en-US" sz="84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Máximas Ocurrencias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14400" y="6400800"/>
            <a:ext cx="10972800" cy="914400"/>
            <a:chOff x="0" y="0"/>
            <a:chExt cx="14630400" cy="12192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6304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66675"/>
              <a:ext cx="14630400" cy="12858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i="true">
                  <a:solidFill>
                    <a:srgbClr val="CADCFC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Trabajo Práctico Final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01703" y="7668263"/>
            <a:ext cx="10083803" cy="2037083"/>
            <a:chOff x="0" y="0"/>
            <a:chExt cx="13445071" cy="271611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445110" cy="2716149"/>
            </a:xfrm>
            <a:custGeom>
              <a:avLst/>
              <a:gdLst/>
              <a:ahLst/>
              <a:cxnLst/>
              <a:rect r="r" b="b" t="t" l="l"/>
              <a:pathLst>
                <a:path h="2716149" w="13445110">
                  <a:moveTo>
                    <a:pt x="0" y="0"/>
                  </a:moveTo>
                  <a:lnTo>
                    <a:pt x="13445110" y="0"/>
                  </a:lnTo>
                  <a:lnTo>
                    <a:pt x="13445110" y="2716149"/>
                  </a:lnTo>
                  <a:lnTo>
                    <a:pt x="0" y="2716149"/>
                  </a:lnTo>
                  <a:close/>
                </a:path>
              </a:pathLst>
            </a:custGeom>
            <a:solidFill>
              <a:srgbClr val="FFFFFF">
                <a:alpha val="1176"/>
              </a:srgbClr>
            </a:solidFill>
            <a:ln w="254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005840" y="7863840"/>
            <a:ext cx="9875520" cy="731520"/>
            <a:chOff x="0" y="0"/>
            <a:chExt cx="13167360" cy="9753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3167361" cy="975360"/>
            </a:xfrm>
            <a:custGeom>
              <a:avLst/>
              <a:gdLst/>
              <a:ahLst/>
              <a:cxnLst/>
              <a:rect r="r" b="b" t="t" l="l"/>
              <a:pathLst>
                <a:path h="975360" w="13167361">
                  <a:moveTo>
                    <a:pt x="0" y="0"/>
                  </a:moveTo>
                  <a:lnTo>
                    <a:pt x="13167361" y="0"/>
                  </a:lnTo>
                  <a:lnTo>
                    <a:pt x="13167361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048" r="0" b="-213048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13167360" cy="1022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ADC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Alumnos: Axel Sanchez, Tomás Guerrero, Alan Leslie 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028700" y="8892540"/>
            <a:ext cx="9875520" cy="731520"/>
            <a:chOff x="0" y="0"/>
            <a:chExt cx="13167360" cy="9753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3167361" cy="975360"/>
            </a:xfrm>
            <a:custGeom>
              <a:avLst/>
              <a:gdLst/>
              <a:ahLst/>
              <a:cxnLst/>
              <a:rect r="r" b="b" t="t" l="l"/>
              <a:pathLst>
                <a:path h="975360" w="13167361">
                  <a:moveTo>
                    <a:pt x="0" y="0"/>
                  </a:moveTo>
                  <a:lnTo>
                    <a:pt x="13167361" y="0"/>
                  </a:lnTo>
                  <a:lnTo>
                    <a:pt x="13167361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048" r="0" b="-213048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13167360" cy="1022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ADC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Profesor: Leandro Caballero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8313403" cy="2037083"/>
            <a:chOff x="0" y="0"/>
            <a:chExt cx="24417871" cy="27161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17910" cy="2716149"/>
            </a:xfrm>
            <a:custGeom>
              <a:avLst/>
              <a:gdLst/>
              <a:ahLst/>
              <a:cxnLst/>
              <a:rect r="r" b="b" t="t" l="l"/>
              <a:pathLst>
                <a:path h="2716149" w="24417910">
                  <a:moveTo>
                    <a:pt x="0" y="0"/>
                  </a:moveTo>
                  <a:lnTo>
                    <a:pt x="24417910" y="0"/>
                  </a:lnTo>
                  <a:lnTo>
                    <a:pt x="24417910" y="2716149"/>
                  </a:lnTo>
                  <a:lnTo>
                    <a:pt x="0" y="2716149"/>
                  </a:lnTo>
                  <a:close/>
                </a:path>
              </a:pathLst>
            </a:custGeom>
            <a:solidFill>
              <a:srgbClr val="1E2761"/>
            </a:solidFill>
            <a:ln w="25400" cap="sq">
              <a:solidFill>
                <a:srgbClr val="1E2761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423" r="0" b="-109423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9525"/>
              <a:ext cx="21945600" cy="2691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9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Descripción del Proyecto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14400" y="2286000"/>
            <a:ext cx="16459200" cy="1463040"/>
            <a:chOff x="0" y="0"/>
            <a:chExt cx="21945600" cy="19507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950720"/>
            </a:xfrm>
            <a:custGeom>
              <a:avLst/>
              <a:gdLst/>
              <a:ahLst/>
              <a:cxnLst/>
              <a:rect r="r" b="b" t="t" l="l"/>
              <a:pathLst>
                <a:path h="195072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950720"/>
                  </a:lnTo>
                  <a:lnTo>
                    <a:pt x="0" y="1950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206" r="0" b="-169206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21945600" cy="1998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Una empresa informática necesita un buscador de máximas ocurrencias capaz de analizar archivos CSV y determinar qué elementos aparecen con mayor frecuencia.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18823" y="4102103"/>
            <a:ext cx="8255003" cy="2402843"/>
            <a:chOff x="0" y="0"/>
            <a:chExt cx="11006671" cy="320379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1006582" cy="3203702"/>
            </a:xfrm>
            <a:custGeom>
              <a:avLst/>
              <a:gdLst/>
              <a:ahLst/>
              <a:cxnLst/>
              <a:rect r="r" b="b" t="t" l="l"/>
              <a:pathLst>
                <a:path h="3203702" w="11006582">
                  <a:moveTo>
                    <a:pt x="0" y="246380"/>
                  </a:moveTo>
                  <a:cubicBezTo>
                    <a:pt x="0" y="110363"/>
                    <a:pt x="110363" y="0"/>
                    <a:pt x="246380" y="0"/>
                  </a:cubicBezTo>
                  <a:lnTo>
                    <a:pt x="10760202" y="0"/>
                  </a:lnTo>
                  <a:cubicBezTo>
                    <a:pt x="10896347" y="0"/>
                    <a:pt x="11006582" y="110363"/>
                    <a:pt x="11006582" y="246380"/>
                  </a:cubicBezTo>
                  <a:lnTo>
                    <a:pt x="11006582" y="2957322"/>
                  </a:lnTo>
                  <a:cubicBezTo>
                    <a:pt x="11006582" y="3093466"/>
                    <a:pt x="10896219" y="3203702"/>
                    <a:pt x="10760202" y="3203702"/>
                  </a:cubicBezTo>
                  <a:lnTo>
                    <a:pt x="246380" y="3203702"/>
                  </a:lnTo>
                  <a:cubicBezTo>
                    <a:pt x="110236" y="3203702"/>
                    <a:pt x="0" y="3093339"/>
                    <a:pt x="0" y="2957322"/>
                  </a:cubicBezTo>
                  <a:close/>
                </a:path>
              </a:pathLst>
            </a:custGeom>
            <a:solidFill>
              <a:srgbClr val="E8EEF9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060704" y="4297680"/>
            <a:ext cx="7498080" cy="694944"/>
            <a:chOff x="0" y="0"/>
            <a:chExt cx="9997440" cy="92659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997440" cy="926592"/>
            </a:xfrm>
            <a:custGeom>
              <a:avLst/>
              <a:gdLst/>
              <a:ahLst/>
              <a:cxnLst/>
              <a:rect r="r" b="b" t="t" l="l"/>
              <a:pathLst>
                <a:path h="926592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0233" r="0" b="-160233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9997440" cy="9837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📂  Entrada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60704" y="4992624"/>
            <a:ext cx="7498080" cy="1316736"/>
            <a:chOff x="0" y="0"/>
            <a:chExt cx="9997440" cy="175564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997440" cy="1755648"/>
            </a:xfrm>
            <a:custGeom>
              <a:avLst/>
              <a:gdLst/>
              <a:ahLst/>
              <a:cxnLst/>
              <a:rect r="r" b="b" t="t" l="l"/>
              <a:pathLst>
                <a:path h="1755648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956" r="0" b="-6095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9997440" cy="18032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Archivo CSV cargado por el usuario, convertido a List&lt;string&gt;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14183" y="4102103"/>
            <a:ext cx="8255003" cy="2402843"/>
            <a:chOff x="0" y="0"/>
            <a:chExt cx="11006671" cy="320379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1006582" cy="3203702"/>
            </a:xfrm>
            <a:custGeom>
              <a:avLst/>
              <a:gdLst/>
              <a:ahLst/>
              <a:cxnLst/>
              <a:rect r="r" b="b" t="t" l="l"/>
              <a:pathLst>
                <a:path h="3203702" w="11006582">
                  <a:moveTo>
                    <a:pt x="0" y="246380"/>
                  </a:moveTo>
                  <a:cubicBezTo>
                    <a:pt x="0" y="110363"/>
                    <a:pt x="110363" y="0"/>
                    <a:pt x="246380" y="0"/>
                  </a:cubicBezTo>
                  <a:lnTo>
                    <a:pt x="10760202" y="0"/>
                  </a:lnTo>
                  <a:cubicBezTo>
                    <a:pt x="10896347" y="0"/>
                    <a:pt x="11006582" y="110363"/>
                    <a:pt x="11006582" y="246380"/>
                  </a:cubicBezTo>
                  <a:lnTo>
                    <a:pt x="11006582" y="2957322"/>
                  </a:lnTo>
                  <a:cubicBezTo>
                    <a:pt x="11006582" y="3093466"/>
                    <a:pt x="10896219" y="3203702"/>
                    <a:pt x="10760202" y="3203702"/>
                  </a:cubicBezTo>
                  <a:lnTo>
                    <a:pt x="246380" y="3203702"/>
                  </a:lnTo>
                  <a:cubicBezTo>
                    <a:pt x="110236" y="3203702"/>
                    <a:pt x="0" y="3093339"/>
                    <a:pt x="0" y="2957322"/>
                  </a:cubicBezTo>
                  <a:close/>
                </a:path>
              </a:pathLst>
            </a:custGeom>
            <a:solidFill>
              <a:srgbClr val="E8EEF9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656064" y="4297680"/>
            <a:ext cx="7498080" cy="694944"/>
            <a:chOff x="0" y="0"/>
            <a:chExt cx="9997440" cy="92659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997440" cy="926592"/>
            </a:xfrm>
            <a:custGeom>
              <a:avLst/>
              <a:gdLst/>
              <a:ahLst/>
              <a:cxnLst/>
              <a:rect r="r" b="b" t="t" l="l"/>
              <a:pathLst>
                <a:path h="926592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0233" r="0" b="-160233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9997440" cy="9837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🔍  Búsqueda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656064" y="4992624"/>
            <a:ext cx="7498080" cy="1316736"/>
            <a:chOff x="0" y="0"/>
            <a:chExt cx="9997440" cy="175564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997440" cy="1755648"/>
            </a:xfrm>
            <a:custGeom>
              <a:avLst/>
              <a:gdLst/>
              <a:ahLst/>
              <a:cxnLst/>
              <a:rect r="r" b="b" t="t" l="l"/>
              <a:pathLst>
                <a:path h="1755648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956" r="0" b="-60956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9997440" cy="18032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Top-N elementos más frecuentes mediante Heap o Ordenamiento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718823" y="6845303"/>
            <a:ext cx="8255003" cy="2402843"/>
            <a:chOff x="0" y="0"/>
            <a:chExt cx="11006671" cy="320379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006582" cy="3203702"/>
            </a:xfrm>
            <a:custGeom>
              <a:avLst/>
              <a:gdLst/>
              <a:ahLst/>
              <a:cxnLst/>
              <a:rect r="r" b="b" t="t" l="l"/>
              <a:pathLst>
                <a:path h="3203702" w="11006582">
                  <a:moveTo>
                    <a:pt x="0" y="246380"/>
                  </a:moveTo>
                  <a:cubicBezTo>
                    <a:pt x="0" y="110363"/>
                    <a:pt x="110363" y="0"/>
                    <a:pt x="246380" y="0"/>
                  </a:cubicBezTo>
                  <a:lnTo>
                    <a:pt x="10760202" y="0"/>
                  </a:lnTo>
                  <a:cubicBezTo>
                    <a:pt x="10896347" y="0"/>
                    <a:pt x="11006582" y="110363"/>
                    <a:pt x="11006582" y="246380"/>
                  </a:cubicBezTo>
                  <a:lnTo>
                    <a:pt x="11006582" y="2957322"/>
                  </a:lnTo>
                  <a:cubicBezTo>
                    <a:pt x="11006582" y="3093466"/>
                    <a:pt x="10896219" y="3203702"/>
                    <a:pt x="10760202" y="3203702"/>
                  </a:cubicBezTo>
                  <a:lnTo>
                    <a:pt x="246380" y="3203702"/>
                  </a:lnTo>
                  <a:cubicBezTo>
                    <a:pt x="110236" y="3203702"/>
                    <a:pt x="0" y="3093339"/>
                    <a:pt x="0" y="2957322"/>
                  </a:cubicBezTo>
                  <a:close/>
                </a:path>
              </a:pathLst>
            </a:custGeom>
            <a:solidFill>
              <a:srgbClr val="E8EEF9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060704" y="7040880"/>
            <a:ext cx="7498080" cy="694944"/>
            <a:chOff x="0" y="0"/>
            <a:chExt cx="9997440" cy="92659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9997440" cy="926592"/>
            </a:xfrm>
            <a:custGeom>
              <a:avLst/>
              <a:gdLst/>
              <a:ahLst/>
              <a:cxnLst/>
              <a:rect r="r" b="b" t="t" l="l"/>
              <a:pathLst>
                <a:path h="926592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0233" r="0" b="-160233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57150"/>
              <a:ext cx="9997440" cy="9837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📊  Comparación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060704" y="7735824"/>
            <a:ext cx="7498080" cy="1316736"/>
            <a:chOff x="0" y="0"/>
            <a:chExt cx="9997440" cy="175564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9997440" cy="1755648"/>
            </a:xfrm>
            <a:custGeom>
              <a:avLst/>
              <a:gdLst/>
              <a:ahLst/>
              <a:cxnLst/>
              <a:rect r="r" b="b" t="t" l="l"/>
              <a:pathLst>
                <a:path h="1755648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956" r="0" b="-60956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47625"/>
              <a:ext cx="9997440" cy="18032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Consulta1 mide y compara los tiempos de ambos algoritmos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9314183" y="6845303"/>
            <a:ext cx="8255003" cy="2402843"/>
            <a:chOff x="0" y="0"/>
            <a:chExt cx="11006671" cy="3203791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1006582" cy="3203702"/>
            </a:xfrm>
            <a:custGeom>
              <a:avLst/>
              <a:gdLst/>
              <a:ahLst/>
              <a:cxnLst/>
              <a:rect r="r" b="b" t="t" l="l"/>
              <a:pathLst>
                <a:path h="3203702" w="11006582">
                  <a:moveTo>
                    <a:pt x="0" y="246380"/>
                  </a:moveTo>
                  <a:cubicBezTo>
                    <a:pt x="0" y="110363"/>
                    <a:pt x="110363" y="0"/>
                    <a:pt x="246380" y="0"/>
                  </a:cubicBezTo>
                  <a:lnTo>
                    <a:pt x="10760202" y="0"/>
                  </a:lnTo>
                  <a:cubicBezTo>
                    <a:pt x="10896347" y="0"/>
                    <a:pt x="11006582" y="110363"/>
                    <a:pt x="11006582" y="246380"/>
                  </a:cubicBezTo>
                  <a:lnTo>
                    <a:pt x="11006582" y="2957322"/>
                  </a:lnTo>
                  <a:cubicBezTo>
                    <a:pt x="11006582" y="3093466"/>
                    <a:pt x="10896219" y="3203702"/>
                    <a:pt x="10760202" y="3203702"/>
                  </a:cubicBezTo>
                  <a:lnTo>
                    <a:pt x="246380" y="3203702"/>
                  </a:lnTo>
                  <a:cubicBezTo>
                    <a:pt x="110236" y="3203702"/>
                    <a:pt x="0" y="3093339"/>
                    <a:pt x="0" y="2957322"/>
                  </a:cubicBezTo>
                  <a:close/>
                </a:path>
              </a:pathLst>
            </a:custGeom>
            <a:solidFill>
              <a:srgbClr val="E8EEF9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9656064" y="7040880"/>
            <a:ext cx="7498080" cy="694944"/>
            <a:chOff x="0" y="0"/>
            <a:chExt cx="9997440" cy="92659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9997440" cy="926592"/>
            </a:xfrm>
            <a:custGeom>
              <a:avLst/>
              <a:gdLst/>
              <a:ahLst/>
              <a:cxnLst/>
              <a:rect r="r" b="b" t="t" l="l"/>
              <a:pathLst>
                <a:path h="926592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0233" r="0" b="-160233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57150"/>
              <a:ext cx="9997440" cy="9837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🌲  Visualización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9656064" y="7735824"/>
            <a:ext cx="7498080" cy="1316736"/>
            <a:chOff x="0" y="0"/>
            <a:chExt cx="9997440" cy="1755648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9997440" cy="1755648"/>
            </a:xfrm>
            <a:custGeom>
              <a:avLst/>
              <a:gdLst/>
              <a:ahLst/>
              <a:cxnLst/>
              <a:rect r="r" b="b" t="t" l="l"/>
              <a:pathLst>
                <a:path h="1755648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956" r="0" b="-60956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47625"/>
              <a:ext cx="9997440" cy="18032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Consulta2 muestra el camino al nodo más izquierdo del Heap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8313403" cy="2037083"/>
            <a:chOff x="0" y="0"/>
            <a:chExt cx="24417871" cy="27161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17910" cy="2716149"/>
            </a:xfrm>
            <a:custGeom>
              <a:avLst/>
              <a:gdLst/>
              <a:ahLst/>
              <a:cxnLst/>
              <a:rect r="r" b="b" t="t" l="l"/>
              <a:pathLst>
                <a:path h="2716149" w="24417910">
                  <a:moveTo>
                    <a:pt x="0" y="0"/>
                  </a:moveTo>
                  <a:lnTo>
                    <a:pt x="24417910" y="0"/>
                  </a:lnTo>
                  <a:lnTo>
                    <a:pt x="24417910" y="2716149"/>
                  </a:lnTo>
                  <a:lnTo>
                    <a:pt x="0" y="2716149"/>
                  </a:lnTo>
                  <a:close/>
                </a:path>
              </a:pathLst>
            </a:custGeom>
            <a:solidFill>
              <a:srgbClr val="1E2761"/>
            </a:solidFill>
            <a:ln w="25400" cap="sq">
              <a:solidFill>
                <a:srgbClr val="1E2761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423" r="0" b="-109423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9525"/>
              <a:ext cx="21945600" cy="2691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9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Arquitectura de la Solución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2730503" y="2364743"/>
            <a:ext cx="12827003" cy="1451867"/>
            <a:chOff x="0" y="0"/>
            <a:chExt cx="17102671" cy="193582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7102582" cy="1935734"/>
            </a:xfrm>
            <a:custGeom>
              <a:avLst/>
              <a:gdLst/>
              <a:ahLst/>
              <a:cxnLst/>
              <a:rect r="r" b="b" t="t" l="l"/>
              <a:pathLst>
                <a:path h="1935734" w="17102582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6904081" y="0"/>
                  </a:lnTo>
                  <a:cubicBezTo>
                    <a:pt x="17013682" y="0"/>
                    <a:pt x="17102582" y="88900"/>
                    <a:pt x="17102582" y="198501"/>
                  </a:cubicBezTo>
                  <a:lnTo>
                    <a:pt x="17102582" y="1737233"/>
                  </a:lnTo>
                  <a:cubicBezTo>
                    <a:pt x="17102582" y="1846834"/>
                    <a:pt x="17013682" y="1935734"/>
                    <a:pt x="16904081" y="1935734"/>
                  </a:cubicBezTo>
                  <a:lnTo>
                    <a:pt x="198501" y="1935734"/>
                  </a:lnTo>
                  <a:cubicBezTo>
                    <a:pt x="88900" y="1935861"/>
                    <a:pt x="0" y="1846961"/>
                    <a:pt x="0" y="1737233"/>
                  </a:cubicBezTo>
                  <a:close/>
                </a:path>
              </a:pathLst>
            </a:custGeom>
            <a:solidFill>
              <a:srgbClr val="F9A825"/>
            </a:solidFill>
            <a:ln w="25400" cap="sq">
              <a:solidFill>
                <a:srgbClr val="F9A825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2926080" y="2450592"/>
            <a:ext cx="12435840" cy="585216"/>
            <a:chOff x="0" y="0"/>
            <a:chExt cx="16581120" cy="7802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6581120" cy="780288"/>
            </a:xfrm>
            <a:custGeom>
              <a:avLst/>
              <a:gdLst/>
              <a:ahLst/>
              <a:cxnLst/>
              <a:rect r="r" b="b" t="t" l="l"/>
              <a:pathLst>
                <a:path h="780288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4057" r="0" b="-364057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16581120" cy="8374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Vista (Windows Forms)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2926080" y="3072384"/>
            <a:ext cx="12435840" cy="512064"/>
            <a:chOff x="0" y="0"/>
            <a:chExt cx="16581120" cy="68275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581120" cy="682752"/>
            </a:xfrm>
            <a:custGeom>
              <a:avLst/>
              <a:gdLst/>
              <a:ahLst/>
              <a:cxnLst/>
              <a:rect r="r" b="b" t="t" l="l"/>
              <a:pathLst>
                <a:path h="682752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23208" r="0" b="-423208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658112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Inicio.cs  ·  Form principal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759190" y="3784854"/>
            <a:ext cx="38100" cy="440436"/>
            <a:chOff x="0" y="0"/>
            <a:chExt cx="50800" cy="58724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0800" cy="587248"/>
            </a:xfrm>
            <a:custGeom>
              <a:avLst/>
              <a:gdLst/>
              <a:ahLst/>
              <a:cxnLst/>
              <a:rect r="r" b="b" t="t" l="l"/>
              <a:pathLst>
                <a:path h="587248" w="50800">
                  <a:moveTo>
                    <a:pt x="0" y="0"/>
                  </a:moveTo>
                  <a:lnTo>
                    <a:pt x="50800" y="587248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-1433189" t="0" r="-1433189" b="0"/>
              </a:stretch>
            </a:blipFill>
            <a:ln w="38100" cap="sq">
              <a:solidFill>
                <a:srgbClr val="64748B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2730503" y="4193543"/>
            <a:ext cx="12827003" cy="1451867"/>
            <a:chOff x="0" y="0"/>
            <a:chExt cx="17102671" cy="193582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7102582" cy="1935734"/>
            </a:xfrm>
            <a:custGeom>
              <a:avLst/>
              <a:gdLst/>
              <a:ahLst/>
              <a:cxnLst/>
              <a:rect r="r" b="b" t="t" l="l"/>
              <a:pathLst>
                <a:path h="1935734" w="17102582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6904081" y="0"/>
                  </a:lnTo>
                  <a:cubicBezTo>
                    <a:pt x="17013682" y="0"/>
                    <a:pt x="17102582" y="88900"/>
                    <a:pt x="17102582" y="198501"/>
                  </a:cubicBezTo>
                  <a:lnTo>
                    <a:pt x="17102582" y="1737233"/>
                  </a:lnTo>
                  <a:cubicBezTo>
                    <a:pt x="17102582" y="1846834"/>
                    <a:pt x="17013682" y="1935734"/>
                    <a:pt x="16904081" y="1935734"/>
                  </a:cubicBezTo>
                  <a:lnTo>
                    <a:pt x="198501" y="1935734"/>
                  </a:lnTo>
                  <a:cubicBezTo>
                    <a:pt x="88900" y="1935861"/>
                    <a:pt x="0" y="1846961"/>
                    <a:pt x="0" y="1737233"/>
                  </a:cubicBezTo>
                  <a:close/>
                </a:path>
              </a:pathLst>
            </a:custGeom>
            <a:solidFill>
              <a:srgbClr val="1E2761"/>
            </a:solidFill>
            <a:ln w="25400" cap="sq">
              <a:solidFill>
                <a:srgbClr val="1E2761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2926080" y="4279392"/>
            <a:ext cx="12435840" cy="585216"/>
            <a:chOff x="0" y="0"/>
            <a:chExt cx="16581120" cy="78028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6581120" cy="780288"/>
            </a:xfrm>
            <a:custGeom>
              <a:avLst/>
              <a:gdLst/>
              <a:ahLst/>
              <a:cxnLst/>
              <a:rect r="r" b="b" t="t" l="l"/>
              <a:pathLst>
                <a:path h="780288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4057" r="0" b="-364057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16581120" cy="8374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Lógica  –  Clase Estrategia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2926080" y="4901184"/>
            <a:ext cx="12435840" cy="512064"/>
            <a:chOff x="0" y="0"/>
            <a:chExt cx="16581120" cy="68275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6581120" cy="682752"/>
            </a:xfrm>
            <a:custGeom>
              <a:avLst/>
              <a:gdLst/>
              <a:ahLst/>
              <a:cxnLst/>
              <a:rect r="r" b="b" t="t" l="l"/>
              <a:pathLst>
                <a:path h="682752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23208" r="0" b="-423208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8112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BuscarConHeap  ·  BuscarConOtro  ·  Consulta1/2/3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8759190" y="5613654"/>
            <a:ext cx="38100" cy="440436"/>
            <a:chOff x="0" y="0"/>
            <a:chExt cx="50800" cy="58724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0800" cy="587248"/>
            </a:xfrm>
            <a:custGeom>
              <a:avLst/>
              <a:gdLst/>
              <a:ahLst/>
              <a:cxnLst/>
              <a:rect r="r" b="b" t="t" l="l"/>
              <a:pathLst>
                <a:path h="587248" w="50800">
                  <a:moveTo>
                    <a:pt x="0" y="0"/>
                  </a:moveTo>
                  <a:lnTo>
                    <a:pt x="50800" y="587248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-1433189" t="0" r="-1433189" b="0"/>
              </a:stretch>
            </a:blipFill>
            <a:ln w="38100" cap="sq">
              <a:solidFill>
                <a:srgbClr val="64748B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2730503" y="6022343"/>
            <a:ext cx="12827003" cy="1451867"/>
            <a:chOff x="0" y="0"/>
            <a:chExt cx="17102671" cy="1935823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7102582" cy="1935734"/>
            </a:xfrm>
            <a:custGeom>
              <a:avLst/>
              <a:gdLst/>
              <a:ahLst/>
              <a:cxnLst/>
              <a:rect r="r" b="b" t="t" l="l"/>
              <a:pathLst>
                <a:path h="1935734" w="17102582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6904081" y="0"/>
                  </a:lnTo>
                  <a:cubicBezTo>
                    <a:pt x="17013682" y="0"/>
                    <a:pt x="17102582" y="88900"/>
                    <a:pt x="17102582" y="198501"/>
                  </a:cubicBezTo>
                  <a:lnTo>
                    <a:pt x="17102582" y="1737233"/>
                  </a:lnTo>
                  <a:cubicBezTo>
                    <a:pt x="17102582" y="1846834"/>
                    <a:pt x="17013682" y="1935734"/>
                    <a:pt x="16904081" y="1935734"/>
                  </a:cubicBezTo>
                  <a:lnTo>
                    <a:pt x="198501" y="1935734"/>
                  </a:lnTo>
                  <a:cubicBezTo>
                    <a:pt x="88900" y="1935861"/>
                    <a:pt x="0" y="1846961"/>
                    <a:pt x="0" y="1737233"/>
                  </a:cubicBezTo>
                  <a:close/>
                </a:path>
              </a:pathLst>
            </a:custGeom>
            <a:solidFill>
              <a:srgbClr val="3A5199"/>
            </a:solidFill>
            <a:ln w="25400" cap="sq">
              <a:solidFill>
                <a:srgbClr val="3A5199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2926080" y="6108192"/>
            <a:ext cx="12435840" cy="585216"/>
            <a:chOff x="0" y="0"/>
            <a:chExt cx="16581120" cy="78028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6581120" cy="780288"/>
            </a:xfrm>
            <a:custGeom>
              <a:avLst/>
              <a:gdLst/>
              <a:ahLst/>
              <a:cxnLst/>
              <a:rect r="r" b="b" t="t" l="l"/>
              <a:pathLst>
                <a:path h="780288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4057" r="0" b="-364057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57150"/>
              <a:ext cx="16581120" cy="8374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Modelo  –  Clase Dato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2926080" y="6729984"/>
            <a:ext cx="12435840" cy="512064"/>
            <a:chOff x="0" y="0"/>
            <a:chExt cx="16581120" cy="68275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6581120" cy="682752"/>
            </a:xfrm>
            <a:custGeom>
              <a:avLst/>
              <a:gdLst/>
              <a:ahLst/>
              <a:cxnLst/>
              <a:rect r="r" b="b" t="t" l="l"/>
              <a:pathLst>
                <a:path h="682752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23208" r="0" b="-423208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8112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ocurrencia  ·  texto  ·  ToString()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8759190" y="7442454"/>
            <a:ext cx="38100" cy="440436"/>
            <a:chOff x="0" y="0"/>
            <a:chExt cx="50800" cy="58724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0800" cy="587248"/>
            </a:xfrm>
            <a:custGeom>
              <a:avLst/>
              <a:gdLst/>
              <a:ahLst/>
              <a:cxnLst/>
              <a:rect r="r" b="b" t="t" l="l"/>
              <a:pathLst>
                <a:path h="587248" w="50800">
                  <a:moveTo>
                    <a:pt x="0" y="0"/>
                  </a:moveTo>
                  <a:lnTo>
                    <a:pt x="50800" y="587248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-1433189" t="0" r="-1433189" b="0"/>
              </a:stretch>
            </a:blipFill>
            <a:ln w="38100" cap="sq">
              <a:solidFill>
                <a:srgbClr val="64748B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2730503" y="7851143"/>
            <a:ext cx="12827003" cy="1451867"/>
            <a:chOff x="0" y="0"/>
            <a:chExt cx="17102671" cy="1935823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7102582" cy="1935734"/>
            </a:xfrm>
            <a:custGeom>
              <a:avLst/>
              <a:gdLst/>
              <a:ahLst/>
              <a:cxnLst/>
              <a:rect r="r" b="b" t="t" l="l"/>
              <a:pathLst>
                <a:path h="1935734" w="17102582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6904081" y="0"/>
                  </a:lnTo>
                  <a:cubicBezTo>
                    <a:pt x="17013682" y="0"/>
                    <a:pt x="17102582" y="88900"/>
                    <a:pt x="17102582" y="198501"/>
                  </a:cubicBezTo>
                  <a:lnTo>
                    <a:pt x="17102582" y="1737233"/>
                  </a:lnTo>
                  <a:cubicBezTo>
                    <a:pt x="17102582" y="1846834"/>
                    <a:pt x="17013682" y="1935734"/>
                    <a:pt x="16904081" y="1935734"/>
                  </a:cubicBezTo>
                  <a:lnTo>
                    <a:pt x="198501" y="1935734"/>
                  </a:lnTo>
                  <a:cubicBezTo>
                    <a:pt x="88900" y="1935861"/>
                    <a:pt x="0" y="1846961"/>
                    <a:pt x="0" y="1737233"/>
                  </a:cubicBezTo>
                  <a:close/>
                </a:path>
              </a:pathLst>
            </a:custGeom>
            <a:solidFill>
              <a:srgbClr val="64748B"/>
            </a:solidFill>
            <a:ln w="25400" cap="sq">
              <a:solidFill>
                <a:srgbClr val="64748B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2926080" y="7936992"/>
            <a:ext cx="12435840" cy="585216"/>
            <a:chOff x="0" y="0"/>
            <a:chExt cx="16581120" cy="780288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6581120" cy="780288"/>
            </a:xfrm>
            <a:custGeom>
              <a:avLst/>
              <a:gdLst/>
              <a:ahLst/>
              <a:cxnLst/>
              <a:rect r="r" b="b" t="t" l="l"/>
              <a:pathLst>
                <a:path h="780288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4057" r="0" b="-364057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57150"/>
              <a:ext cx="16581120" cy="8374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Datos  –  Archivo CSV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2926080" y="8558784"/>
            <a:ext cx="12435840" cy="512064"/>
            <a:chOff x="0" y="0"/>
            <a:chExt cx="16581120" cy="682752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6581120" cy="682752"/>
            </a:xfrm>
            <a:custGeom>
              <a:avLst/>
              <a:gdLst/>
              <a:ahLst/>
              <a:cxnLst/>
              <a:rect r="r" b="b" t="t" l="l"/>
              <a:pathLst>
                <a:path h="682752" w="16581120">
                  <a:moveTo>
                    <a:pt x="0" y="0"/>
                  </a:moveTo>
                  <a:lnTo>
                    <a:pt x="16581120" y="0"/>
                  </a:lnTo>
                  <a:lnTo>
                    <a:pt x="1658112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23208" r="0" b="-423208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1658112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List&lt;string&gt; datos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8313403" cy="2037083"/>
            <a:chOff x="0" y="0"/>
            <a:chExt cx="24417871" cy="27161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17910" cy="2716149"/>
            </a:xfrm>
            <a:custGeom>
              <a:avLst/>
              <a:gdLst/>
              <a:ahLst/>
              <a:cxnLst/>
              <a:rect r="r" b="b" t="t" l="l"/>
              <a:pathLst>
                <a:path h="2716149" w="24417910">
                  <a:moveTo>
                    <a:pt x="0" y="0"/>
                  </a:moveTo>
                  <a:lnTo>
                    <a:pt x="24417910" y="0"/>
                  </a:lnTo>
                  <a:lnTo>
                    <a:pt x="24417910" y="2716149"/>
                  </a:lnTo>
                  <a:lnTo>
                    <a:pt x="0" y="2716149"/>
                  </a:lnTo>
                  <a:close/>
                </a:path>
              </a:pathLst>
            </a:custGeom>
            <a:solidFill>
              <a:srgbClr val="0F1B4C"/>
            </a:solidFill>
            <a:ln w="25400" cap="sq">
              <a:solidFill>
                <a:srgbClr val="0F1B4C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423" r="0" b="-109423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9525"/>
              <a:ext cx="21945600" cy="2691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9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Métodos Implementados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718823" y="2273303"/>
            <a:ext cx="8255003" cy="1525019"/>
            <a:chOff x="0" y="0"/>
            <a:chExt cx="11006671" cy="20333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006709" cy="2033397"/>
            </a:xfrm>
            <a:custGeom>
              <a:avLst/>
              <a:gdLst/>
              <a:ahLst/>
              <a:cxnLst/>
              <a:rect r="r" b="b" t="t" l="l"/>
              <a:pathLst>
                <a:path h="2033397" w="11006709">
                  <a:moveTo>
                    <a:pt x="0" y="198374"/>
                  </a:moveTo>
                  <a:cubicBezTo>
                    <a:pt x="0" y="88773"/>
                    <a:pt x="88773" y="0"/>
                    <a:pt x="198374" y="0"/>
                  </a:cubicBezTo>
                  <a:lnTo>
                    <a:pt x="10808335" y="0"/>
                  </a:lnTo>
                  <a:cubicBezTo>
                    <a:pt x="10917936" y="0"/>
                    <a:pt x="11006709" y="88773"/>
                    <a:pt x="11006709" y="198374"/>
                  </a:cubicBezTo>
                  <a:lnTo>
                    <a:pt x="11006709" y="1835023"/>
                  </a:lnTo>
                  <a:cubicBezTo>
                    <a:pt x="11006709" y="1944624"/>
                    <a:pt x="10917936" y="2033397"/>
                    <a:pt x="10808335" y="2033397"/>
                  </a:cubicBezTo>
                  <a:lnTo>
                    <a:pt x="198374" y="2033397"/>
                  </a:lnTo>
                  <a:cubicBezTo>
                    <a:pt x="88773" y="2033397"/>
                    <a:pt x="0" y="1944497"/>
                    <a:pt x="0" y="1835023"/>
                  </a:cubicBezTo>
                  <a:close/>
                </a:path>
              </a:pathLst>
            </a:custGeom>
            <a:solidFill>
              <a:srgbClr val="F8FA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938279" y="2492759"/>
            <a:ext cx="3500123" cy="537467"/>
            <a:chOff x="0" y="0"/>
            <a:chExt cx="4666831" cy="71662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666869" cy="716534"/>
            </a:xfrm>
            <a:custGeom>
              <a:avLst/>
              <a:gdLst/>
              <a:ahLst/>
              <a:cxnLst/>
              <a:rect r="r" b="b" t="t" l="l"/>
              <a:pathLst>
                <a:path h="716534" w="4666869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4564507" y="0"/>
                  </a:lnTo>
                  <a:cubicBezTo>
                    <a:pt x="4621022" y="0"/>
                    <a:pt x="4666869" y="45847"/>
                    <a:pt x="4666869" y="102362"/>
                  </a:cubicBezTo>
                  <a:lnTo>
                    <a:pt x="4666869" y="614172"/>
                  </a:lnTo>
                  <a:cubicBezTo>
                    <a:pt x="4666869" y="670687"/>
                    <a:pt x="4621022" y="716534"/>
                    <a:pt x="4564507" y="716534"/>
                  </a:cubicBezTo>
                  <a:lnTo>
                    <a:pt x="102362" y="716534"/>
                  </a:lnTo>
                  <a:cubicBezTo>
                    <a:pt x="45847" y="716661"/>
                    <a:pt x="0" y="670814"/>
                    <a:pt x="0" y="614299"/>
                  </a:cubicBezTo>
                  <a:close/>
                </a:path>
              </a:pathLst>
            </a:custGeom>
            <a:solidFill>
              <a:srgbClr val="1A56B0"/>
            </a:solidFill>
            <a:ln w="25400" cap="sq">
              <a:solidFill>
                <a:srgbClr val="1A56B0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950976" y="2505456"/>
            <a:ext cx="3474720" cy="512064"/>
            <a:chOff x="0" y="0"/>
            <a:chExt cx="4632960" cy="68275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19" r="0" b="-82219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46329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BuscarConHeap()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87552" y="3090672"/>
            <a:ext cx="7717536" cy="548640"/>
            <a:chOff x="0" y="0"/>
            <a:chExt cx="10290048" cy="7315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4089" r="0" b="-22408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029004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Max-Heap para extraer los N elementos más frecuentes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718823" y="4193543"/>
            <a:ext cx="8255003" cy="1525019"/>
            <a:chOff x="0" y="0"/>
            <a:chExt cx="11006671" cy="203335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1006709" cy="2033397"/>
            </a:xfrm>
            <a:custGeom>
              <a:avLst/>
              <a:gdLst/>
              <a:ahLst/>
              <a:cxnLst/>
              <a:rect r="r" b="b" t="t" l="l"/>
              <a:pathLst>
                <a:path h="2033397" w="11006709">
                  <a:moveTo>
                    <a:pt x="0" y="198374"/>
                  </a:moveTo>
                  <a:cubicBezTo>
                    <a:pt x="0" y="88773"/>
                    <a:pt x="88773" y="0"/>
                    <a:pt x="198374" y="0"/>
                  </a:cubicBezTo>
                  <a:lnTo>
                    <a:pt x="10808335" y="0"/>
                  </a:lnTo>
                  <a:cubicBezTo>
                    <a:pt x="10917936" y="0"/>
                    <a:pt x="11006709" y="88773"/>
                    <a:pt x="11006709" y="198374"/>
                  </a:cubicBezTo>
                  <a:lnTo>
                    <a:pt x="11006709" y="1835023"/>
                  </a:lnTo>
                  <a:cubicBezTo>
                    <a:pt x="11006709" y="1944624"/>
                    <a:pt x="10917936" y="2033397"/>
                    <a:pt x="10808335" y="2033397"/>
                  </a:cubicBezTo>
                  <a:lnTo>
                    <a:pt x="198374" y="2033397"/>
                  </a:lnTo>
                  <a:cubicBezTo>
                    <a:pt x="88773" y="2033397"/>
                    <a:pt x="0" y="1944497"/>
                    <a:pt x="0" y="1835023"/>
                  </a:cubicBezTo>
                  <a:close/>
                </a:path>
              </a:pathLst>
            </a:custGeom>
            <a:solidFill>
              <a:srgbClr val="F8FA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938279" y="4412999"/>
            <a:ext cx="3500123" cy="537467"/>
            <a:chOff x="0" y="0"/>
            <a:chExt cx="4666831" cy="716623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666869" cy="716534"/>
            </a:xfrm>
            <a:custGeom>
              <a:avLst/>
              <a:gdLst/>
              <a:ahLst/>
              <a:cxnLst/>
              <a:rect r="r" b="b" t="t" l="l"/>
              <a:pathLst>
                <a:path h="716534" w="4666869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4564507" y="0"/>
                  </a:lnTo>
                  <a:cubicBezTo>
                    <a:pt x="4621022" y="0"/>
                    <a:pt x="4666869" y="45847"/>
                    <a:pt x="4666869" y="102362"/>
                  </a:cubicBezTo>
                  <a:lnTo>
                    <a:pt x="4666869" y="614172"/>
                  </a:lnTo>
                  <a:cubicBezTo>
                    <a:pt x="4666869" y="670687"/>
                    <a:pt x="4621022" y="716534"/>
                    <a:pt x="4564507" y="716534"/>
                  </a:cubicBezTo>
                  <a:lnTo>
                    <a:pt x="102362" y="716534"/>
                  </a:lnTo>
                  <a:cubicBezTo>
                    <a:pt x="45847" y="716661"/>
                    <a:pt x="0" y="670814"/>
                    <a:pt x="0" y="614299"/>
                  </a:cubicBezTo>
                  <a:close/>
                </a:path>
              </a:pathLst>
            </a:custGeom>
            <a:solidFill>
              <a:srgbClr val="0F6E56"/>
            </a:solidFill>
            <a:ln w="25400" cap="sq">
              <a:solidFill>
                <a:srgbClr val="0F6E56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950976" y="4425696"/>
            <a:ext cx="3474720" cy="512064"/>
            <a:chOff x="0" y="0"/>
            <a:chExt cx="4632960" cy="68275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19" r="0" b="-82219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46329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BuscarConOtro()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87552" y="5010912"/>
            <a:ext cx="7717536" cy="548640"/>
            <a:chOff x="0" y="0"/>
            <a:chExt cx="10290048" cy="7315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4089" r="0" b="-22408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1029004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Ordenamiento por selección descendente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718823" y="6113783"/>
            <a:ext cx="8255003" cy="1525019"/>
            <a:chOff x="0" y="0"/>
            <a:chExt cx="11006671" cy="203335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1006709" cy="2033397"/>
            </a:xfrm>
            <a:custGeom>
              <a:avLst/>
              <a:gdLst/>
              <a:ahLst/>
              <a:cxnLst/>
              <a:rect r="r" b="b" t="t" l="l"/>
              <a:pathLst>
                <a:path h="2033397" w="11006709">
                  <a:moveTo>
                    <a:pt x="0" y="198374"/>
                  </a:moveTo>
                  <a:cubicBezTo>
                    <a:pt x="0" y="88773"/>
                    <a:pt x="88773" y="0"/>
                    <a:pt x="198374" y="0"/>
                  </a:cubicBezTo>
                  <a:lnTo>
                    <a:pt x="10808335" y="0"/>
                  </a:lnTo>
                  <a:cubicBezTo>
                    <a:pt x="10917936" y="0"/>
                    <a:pt x="11006709" y="88773"/>
                    <a:pt x="11006709" y="198374"/>
                  </a:cubicBezTo>
                  <a:lnTo>
                    <a:pt x="11006709" y="1835023"/>
                  </a:lnTo>
                  <a:cubicBezTo>
                    <a:pt x="11006709" y="1944624"/>
                    <a:pt x="10917936" y="2033397"/>
                    <a:pt x="10808335" y="2033397"/>
                  </a:cubicBezTo>
                  <a:lnTo>
                    <a:pt x="198374" y="2033397"/>
                  </a:lnTo>
                  <a:cubicBezTo>
                    <a:pt x="88773" y="2033397"/>
                    <a:pt x="0" y="1944497"/>
                    <a:pt x="0" y="1835023"/>
                  </a:cubicBezTo>
                  <a:close/>
                </a:path>
              </a:pathLst>
            </a:custGeom>
            <a:solidFill>
              <a:srgbClr val="F8FA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938279" y="6333239"/>
            <a:ext cx="3500123" cy="537467"/>
            <a:chOff x="0" y="0"/>
            <a:chExt cx="4666831" cy="716623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666869" cy="716534"/>
            </a:xfrm>
            <a:custGeom>
              <a:avLst/>
              <a:gdLst/>
              <a:ahLst/>
              <a:cxnLst/>
              <a:rect r="r" b="b" t="t" l="l"/>
              <a:pathLst>
                <a:path h="716534" w="4666869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4564507" y="0"/>
                  </a:lnTo>
                  <a:cubicBezTo>
                    <a:pt x="4621022" y="0"/>
                    <a:pt x="4666869" y="45847"/>
                    <a:pt x="4666869" y="102362"/>
                  </a:cubicBezTo>
                  <a:lnTo>
                    <a:pt x="4666869" y="614172"/>
                  </a:lnTo>
                  <a:cubicBezTo>
                    <a:pt x="4666869" y="670687"/>
                    <a:pt x="4621022" y="716534"/>
                    <a:pt x="4564507" y="716534"/>
                  </a:cubicBezTo>
                  <a:lnTo>
                    <a:pt x="102362" y="716534"/>
                  </a:lnTo>
                  <a:cubicBezTo>
                    <a:pt x="45847" y="716661"/>
                    <a:pt x="0" y="670814"/>
                    <a:pt x="0" y="614299"/>
                  </a:cubicBezTo>
                  <a:close/>
                </a:path>
              </a:pathLst>
            </a:custGeom>
            <a:solidFill>
              <a:srgbClr val="7C3AE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950976" y="6345936"/>
            <a:ext cx="3474720" cy="512064"/>
            <a:chOff x="0" y="0"/>
            <a:chExt cx="4632960" cy="68275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19" r="0" b="-82219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46329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FiltrarArriba()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987552" y="6931152"/>
            <a:ext cx="7717536" cy="548640"/>
            <a:chOff x="0" y="0"/>
            <a:chExt cx="10290048" cy="7315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4089" r="0" b="-224089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1029004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Sube un nodo mientras supere a su padre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718823" y="8034023"/>
            <a:ext cx="8255003" cy="1525019"/>
            <a:chOff x="0" y="0"/>
            <a:chExt cx="11006671" cy="2033359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1006709" cy="2033397"/>
            </a:xfrm>
            <a:custGeom>
              <a:avLst/>
              <a:gdLst/>
              <a:ahLst/>
              <a:cxnLst/>
              <a:rect r="r" b="b" t="t" l="l"/>
              <a:pathLst>
                <a:path h="2033397" w="11006709">
                  <a:moveTo>
                    <a:pt x="0" y="198374"/>
                  </a:moveTo>
                  <a:cubicBezTo>
                    <a:pt x="0" y="88773"/>
                    <a:pt x="88773" y="0"/>
                    <a:pt x="198374" y="0"/>
                  </a:cubicBezTo>
                  <a:lnTo>
                    <a:pt x="10808335" y="0"/>
                  </a:lnTo>
                  <a:cubicBezTo>
                    <a:pt x="10917936" y="0"/>
                    <a:pt x="11006709" y="88773"/>
                    <a:pt x="11006709" y="198374"/>
                  </a:cubicBezTo>
                  <a:lnTo>
                    <a:pt x="11006709" y="1835023"/>
                  </a:lnTo>
                  <a:cubicBezTo>
                    <a:pt x="11006709" y="1944624"/>
                    <a:pt x="10917936" y="2033397"/>
                    <a:pt x="10808335" y="2033397"/>
                  </a:cubicBezTo>
                  <a:lnTo>
                    <a:pt x="198374" y="2033397"/>
                  </a:lnTo>
                  <a:cubicBezTo>
                    <a:pt x="88773" y="2033397"/>
                    <a:pt x="0" y="1944497"/>
                    <a:pt x="0" y="1835023"/>
                  </a:cubicBezTo>
                  <a:close/>
                </a:path>
              </a:pathLst>
            </a:custGeom>
            <a:solidFill>
              <a:srgbClr val="F8FA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938279" y="8253479"/>
            <a:ext cx="3500123" cy="537467"/>
            <a:chOff x="0" y="0"/>
            <a:chExt cx="4666831" cy="716623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666869" cy="716534"/>
            </a:xfrm>
            <a:custGeom>
              <a:avLst/>
              <a:gdLst/>
              <a:ahLst/>
              <a:cxnLst/>
              <a:rect r="r" b="b" t="t" l="l"/>
              <a:pathLst>
                <a:path h="716534" w="4666869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4564507" y="0"/>
                  </a:lnTo>
                  <a:cubicBezTo>
                    <a:pt x="4621022" y="0"/>
                    <a:pt x="4666869" y="45847"/>
                    <a:pt x="4666869" y="102362"/>
                  </a:cubicBezTo>
                  <a:lnTo>
                    <a:pt x="4666869" y="614172"/>
                  </a:lnTo>
                  <a:cubicBezTo>
                    <a:pt x="4666869" y="670687"/>
                    <a:pt x="4621022" y="716534"/>
                    <a:pt x="4564507" y="716534"/>
                  </a:cubicBezTo>
                  <a:lnTo>
                    <a:pt x="102362" y="716534"/>
                  </a:lnTo>
                  <a:cubicBezTo>
                    <a:pt x="45847" y="716661"/>
                    <a:pt x="0" y="670814"/>
                    <a:pt x="0" y="614299"/>
                  </a:cubicBezTo>
                  <a:close/>
                </a:path>
              </a:pathLst>
            </a:custGeom>
            <a:solidFill>
              <a:srgbClr val="B45309"/>
            </a:solidFill>
            <a:ln w="25400" cap="sq">
              <a:solidFill>
                <a:srgbClr val="B45309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950976" y="8266176"/>
            <a:ext cx="3474720" cy="512064"/>
            <a:chOff x="0" y="0"/>
            <a:chExt cx="4632960" cy="68275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19" r="0" b="-82219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46329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FiltrarAbajo()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87552" y="8851392"/>
            <a:ext cx="7717536" cy="548640"/>
            <a:chOff x="0" y="0"/>
            <a:chExt cx="10290048" cy="7315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4089" r="0" b="-224089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029004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Baja un nodo hacia el hijo mayor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9497063" y="2273303"/>
            <a:ext cx="8255003" cy="1525019"/>
            <a:chOff x="0" y="0"/>
            <a:chExt cx="11006671" cy="203335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1006709" cy="2033397"/>
            </a:xfrm>
            <a:custGeom>
              <a:avLst/>
              <a:gdLst/>
              <a:ahLst/>
              <a:cxnLst/>
              <a:rect r="r" b="b" t="t" l="l"/>
              <a:pathLst>
                <a:path h="2033397" w="11006709">
                  <a:moveTo>
                    <a:pt x="0" y="198374"/>
                  </a:moveTo>
                  <a:cubicBezTo>
                    <a:pt x="0" y="88773"/>
                    <a:pt x="88773" y="0"/>
                    <a:pt x="198374" y="0"/>
                  </a:cubicBezTo>
                  <a:lnTo>
                    <a:pt x="10808335" y="0"/>
                  </a:lnTo>
                  <a:cubicBezTo>
                    <a:pt x="10917936" y="0"/>
                    <a:pt x="11006709" y="88773"/>
                    <a:pt x="11006709" y="198374"/>
                  </a:cubicBezTo>
                  <a:lnTo>
                    <a:pt x="11006709" y="1835023"/>
                  </a:lnTo>
                  <a:cubicBezTo>
                    <a:pt x="11006709" y="1944624"/>
                    <a:pt x="10917936" y="2033397"/>
                    <a:pt x="10808335" y="2033397"/>
                  </a:cubicBezTo>
                  <a:lnTo>
                    <a:pt x="198374" y="2033397"/>
                  </a:lnTo>
                  <a:cubicBezTo>
                    <a:pt x="88773" y="2033397"/>
                    <a:pt x="0" y="1944497"/>
                    <a:pt x="0" y="1835023"/>
                  </a:cubicBezTo>
                  <a:close/>
                </a:path>
              </a:pathLst>
            </a:custGeom>
            <a:solidFill>
              <a:srgbClr val="F8FA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9716519" y="2492759"/>
            <a:ext cx="3500123" cy="537467"/>
            <a:chOff x="0" y="0"/>
            <a:chExt cx="4666831" cy="716623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4666869" cy="716534"/>
            </a:xfrm>
            <a:custGeom>
              <a:avLst/>
              <a:gdLst/>
              <a:ahLst/>
              <a:cxnLst/>
              <a:rect r="r" b="b" t="t" l="l"/>
              <a:pathLst>
                <a:path h="716534" w="4666869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4564507" y="0"/>
                  </a:lnTo>
                  <a:cubicBezTo>
                    <a:pt x="4621022" y="0"/>
                    <a:pt x="4666869" y="45847"/>
                    <a:pt x="4666869" y="102362"/>
                  </a:cubicBezTo>
                  <a:lnTo>
                    <a:pt x="4666869" y="614172"/>
                  </a:lnTo>
                  <a:cubicBezTo>
                    <a:pt x="4666869" y="670687"/>
                    <a:pt x="4621022" y="716534"/>
                    <a:pt x="4564507" y="716534"/>
                  </a:cubicBezTo>
                  <a:lnTo>
                    <a:pt x="102362" y="716534"/>
                  </a:lnTo>
                  <a:cubicBezTo>
                    <a:pt x="45847" y="716661"/>
                    <a:pt x="0" y="670814"/>
                    <a:pt x="0" y="614299"/>
                  </a:cubicBezTo>
                  <a:close/>
                </a:path>
              </a:pathLst>
            </a:custGeom>
            <a:solidFill>
              <a:srgbClr val="BE123C"/>
            </a:solidFill>
            <a:ln w="25400" cap="sq">
              <a:solidFill>
                <a:srgbClr val="BE123C"/>
              </a:solidFill>
              <a:prstDash val="solid"/>
              <a:miter/>
            </a:ln>
          </p:spPr>
        </p:sp>
      </p:grpSp>
      <p:grpSp>
        <p:nvGrpSpPr>
          <p:cNvPr name="Group 51" id="51"/>
          <p:cNvGrpSpPr/>
          <p:nvPr/>
        </p:nvGrpSpPr>
        <p:grpSpPr>
          <a:xfrm rot="0">
            <a:off x="9729216" y="2505456"/>
            <a:ext cx="3474720" cy="512064"/>
            <a:chOff x="0" y="0"/>
            <a:chExt cx="4632960" cy="682752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19" r="0" b="-82219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46329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Consulta1()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9765792" y="3090672"/>
            <a:ext cx="7717536" cy="548640"/>
            <a:chOff x="0" y="0"/>
            <a:chExt cx="10290048" cy="73152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4089" r="0" b="-224089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1029004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Compara tiempos de ejecución de ambos métodos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9497063" y="4193543"/>
            <a:ext cx="8255003" cy="1525019"/>
            <a:chOff x="0" y="0"/>
            <a:chExt cx="11006671" cy="2033359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1006709" cy="2033397"/>
            </a:xfrm>
            <a:custGeom>
              <a:avLst/>
              <a:gdLst/>
              <a:ahLst/>
              <a:cxnLst/>
              <a:rect r="r" b="b" t="t" l="l"/>
              <a:pathLst>
                <a:path h="2033397" w="11006709">
                  <a:moveTo>
                    <a:pt x="0" y="198374"/>
                  </a:moveTo>
                  <a:cubicBezTo>
                    <a:pt x="0" y="88773"/>
                    <a:pt x="88773" y="0"/>
                    <a:pt x="198374" y="0"/>
                  </a:cubicBezTo>
                  <a:lnTo>
                    <a:pt x="10808335" y="0"/>
                  </a:lnTo>
                  <a:cubicBezTo>
                    <a:pt x="10917936" y="0"/>
                    <a:pt x="11006709" y="88773"/>
                    <a:pt x="11006709" y="198374"/>
                  </a:cubicBezTo>
                  <a:lnTo>
                    <a:pt x="11006709" y="1835023"/>
                  </a:lnTo>
                  <a:cubicBezTo>
                    <a:pt x="11006709" y="1944624"/>
                    <a:pt x="10917936" y="2033397"/>
                    <a:pt x="10808335" y="2033397"/>
                  </a:cubicBezTo>
                  <a:lnTo>
                    <a:pt x="198374" y="2033397"/>
                  </a:lnTo>
                  <a:cubicBezTo>
                    <a:pt x="88773" y="2033397"/>
                    <a:pt x="0" y="1944497"/>
                    <a:pt x="0" y="1835023"/>
                  </a:cubicBezTo>
                  <a:close/>
                </a:path>
              </a:pathLst>
            </a:custGeom>
            <a:solidFill>
              <a:srgbClr val="F8FA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9716519" y="4412999"/>
            <a:ext cx="3500123" cy="537467"/>
            <a:chOff x="0" y="0"/>
            <a:chExt cx="4666831" cy="716623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666869" cy="716534"/>
            </a:xfrm>
            <a:custGeom>
              <a:avLst/>
              <a:gdLst/>
              <a:ahLst/>
              <a:cxnLst/>
              <a:rect r="r" b="b" t="t" l="l"/>
              <a:pathLst>
                <a:path h="716534" w="4666869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4564507" y="0"/>
                  </a:lnTo>
                  <a:cubicBezTo>
                    <a:pt x="4621022" y="0"/>
                    <a:pt x="4666869" y="45847"/>
                    <a:pt x="4666869" y="102362"/>
                  </a:cubicBezTo>
                  <a:lnTo>
                    <a:pt x="4666869" y="614172"/>
                  </a:lnTo>
                  <a:cubicBezTo>
                    <a:pt x="4666869" y="670687"/>
                    <a:pt x="4621022" y="716534"/>
                    <a:pt x="4564507" y="716534"/>
                  </a:cubicBezTo>
                  <a:lnTo>
                    <a:pt x="102362" y="716534"/>
                  </a:lnTo>
                  <a:cubicBezTo>
                    <a:pt x="45847" y="716661"/>
                    <a:pt x="0" y="670814"/>
                    <a:pt x="0" y="614299"/>
                  </a:cubicBezTo>
                  <a:close/>
                </a:path>
              </a:pathLst>
            </a:custGeom>
            <a:solidFill>
              <a:srgbClr val="0369A1"/>
            </a:solidFill>
            <a:ln w="25400" cap="sq">
              <a:solidFill>
                <a:srgbClr val="0369A1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9729216" y="4425696"/>
            <a:ext cx="3474720" cy="512064"/>
            <a:chOff x="0" y="0"/>
            <a:chExt cx="4632960" cy="682752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19" r="0" b="-82219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46329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Consulta2()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765792" y="5010912"/>
            <a:ext cx="7717536" cy="548640"/>
            <a:chOff x="0" y="0"/>
            <a:chExt cx="10290048" cy="73152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4089" r="0" b="-224089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1029004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Retorna el camino a la hoja más izquierda del Heap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9497063" y="6113783"/>
            <a:ext cx="8255003" cy="1525019"/>
            <a:chOff x="0" y="0"/>
            <a:chExt cx="11006671" cy="2033359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11006709" cy="2033397"/>
            </a:xfrm>
            <a:custGeom>
              <a:avLst/>
              <a:gdLst/>
              <a:ahLst/>
              <a:cxnLst/>
              <a:rect r="r" b="b" t="t" l="l"/>
              <a:pathLst>
                <a:path h="2033397" w="11006709">
                  <a:moveTo>
                    <a:pt x="0" y="198374"/>
                  </a:moveTo>
                  <a:cubicBezTo>
                    <a:pt x="0" y="88773"/>
                    <a:pt x="88773" y="0"/>
                    <a:pt x="198374" y="0"/>
                  </a:cubicBezTo>
                  <a:lnTo>
                    <a:pt x="10808335" y="0"/>
                  </a:lnTo>
                  <a:cubicBezTo>
                    <a:pt x="10917936" y="0"/>
                    <a:pt x="11006709" y="88773"/>
                    <a:pt x="11006709" y="198374"/>
                  </a:cubicBezTo>
                  <a:lnTo>
                    <a:pt x="11006709" y="1835023"/>
                  </a:lnTo>
                  <a:cubicBezTo>
                    <a:pt x="11006709" y="1944624"/>
                    <a:pt x="10917936" y="2033397"/>
                    <a:pt x="10808335" y="2033397"/>
                  </a:cubicBezTo>
                  <a:lnTo>
                    <a:pt x="198374" y="2033397"/>
                  </a:lnTo>
                  <a:cubicBezTo>
                    <a:pt x="88773" y="2033397"/>
                    <a:pt x="0" y="1944497"/>
                    <a:pt x="0" y="1835023"/>
                  </a:cubicBezTo>
                  <a:close/>
                </a:path>
              </a:pathLst>
            </a:custGeom>
            <a:solidFill>
              <a:srgbClr val="F8FA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69" id="69"/>
          <p:cNvGrpSpPr/>
          <p:nvPr/>
        </p:nvGrpSpPr>
        <p:grpSpPr>
          <a:xfrm rot="0">
            <a:off x="9716519" y="6333239"/>
            <a:ext cx="3500123" cy="537467"/>
            <a:chOff x="0" y="0"/>
            <a:chExt cx="4666831" cy="716623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666869" cy="716534"/>
            </a:xfrm>
            <a:custGeom>
              <a:avLst/>
              <a:gdLst/>
              <a:ahLst/>
              <a:cxnLst/>
              <a:rect r="r" b="b" t="t" l="l"/>
              <a:pathLst>
                <a:path h="716534" w="4666869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4564507" y="0"/>
                  </a:lnTo>
                  <a:cubicBezTo>
                    <a:pt x="4621022" y="0"/>
                    <a:pt x="4666869" y="45847"/>
                    <a:pt x="4666869" y="102362"/>
                  </a:cubicBezTo>
                  <a:lnTo>
                    <a:pt x="4666869" y="614172"/>
                  </a:lnTo>
                  <a:cubicBezTo>
                    <a:pt x="4666869" y="670687"/>
                    <a:pt x="4621022" y="716534"/>
                    <a:pt x="4564507" y="716534"/>
                  </a:cubicBezTo>
                  <a:lnTo>
                    <a:pt x="102362" y="716534"/>
                  </a:lnTo>
                  <a:cubicBezTo>
                    <a:pt x="45847" y="716661"/>
                    <a:pt x="0" y="670814"/>
                    <a:pt x="0" y="614299"/>
                  </a:cubicBezTo>
                  <a:close/>
                </a:path>
              </a:pathLst>
            </a:custGeom>
            <a:solidFill>
              <a:srgbClr val="065F46"/>
            </a:solidFill>
            <a:ln w="25400" cap="sq">
              <a:solidFill>
                <a:srgbClr val="065F46"/>
              </a:solidFill>
              <a:prstDash val="solid"/>
              <a:miter/>
            </a:ln>
          </p:spPr>
        </p:sp>
      </p:grpSp>
      <p:grpSp>
        <p:nvGrpSpPr>
          <p:cNvPr name="Group 71" id="71"/>
          <p:cNvGrpSpPr/>
          <p:nvPr/>
        </p:nvGrpSpPr>
        <p:grpSpPr>
          <a:xfrm rot="0">
            <a:off x="9729216" y="6345936"/>
            <a:ext cx="3474720" cy="512064"/>
            <a:chOff x="0" y="0"/>
            <a:chExt cx="4632960" cy="682752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19" r="0" b="-82219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46329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Consulta3()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9765792" y="6931152"/>
            <a:ext cx="7717536" cy="548640"/>
            <a:chOff x="0" y="0"/>
            <a:chExt cx="10290048" cy="73152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4089" r="0" b="-224089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38100"/>
              <a:ext cx="1029004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Muestra el Heap organizado por niveles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9497063" y="8034023"/>
            <a:ext cx="8255003" cy="1525019"/>
            <a:chOff x="0" y="0"/>
            <a:chExt cx="11006671" cy="2033359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11006709" cy="2033397"/>
            </a:xfrm>
            <a:custGeom>
              <a:avLst/>
              <a:gdLst/>
              <a:ahLst/>
              <a:cxnLst/>
              <a:rect r="r" b="b" t="t" l="l"/>
              <a:pathLst>
                <a:path h="2033397" w="11006709">
                  <a:moveTo>
                    <a:pt x="0" y="198374"/>
                  </a:moveTo>
                  <a:cubicBezTo>
                    <a:pt x="0" y="88773"/>
                    <a:pt x="88773" y="0"/>
                    <a:pt x="198374" y="0"/>
                  </a:cubicBezTo>
                  <a:lnTo>
                    <a:pt x="10808335" y="0"/>
                  </a:lnTo>
                  <a:cubicBezTo>
                    <a:pt x="10917936" y="0"/>
                    <a:pt x="11006709" y="88773"/>
                    <a:pt x="11006709" y="198374"/>
                  </a:cubicBezTo>
                  <a:lnTo>
                    <a:pt x="11006709" y="1835023"/>
                  </a:lnTo>
                  <a:cubicBezTo>
                    <a:pt x="11006709" y="1944624"/>
                    <a:pt x="10917936" y="2033397"/>
                    <a:pt x="10808335" y="2033397"/>
                  </a:cubicBezTo>
                  <a:lnTo>
                    <a:pt x="198374" y="2033397"/>
                  </a:lnTo>
                  <a:cubicBezTo>
                    <a:pt x="88773" y="2033397"/>
                    <a:pt x="0" y="1944497"/>
                    <a:pt x="0" y="1835023"/>
                  </a:cubicBezTo>
                  <a:close/>
                </a:path>
              </a:pathLst>
            </a:custGeom>
            <a:solidFill>
              <a:srgbClr val="F8FA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9716519" y="8253479"/>
            <a:ext cx="3500123" cy="537467"/>
            <a:chOff x="0" y="0"/>
            <a:chExt cx="4666831" cy="716623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4666869" cy="716534"/>
            </a:xfrm>
            <a:custGeom>
              <a:avLst/>
              <a:gdLst/>
              <a:ahLst/>
              <a:cxnLst/>
              <a:rect r="r" b="b" t="t" l="l"/>
              <a:pathLst>
                <a:path h="716534" w="4666869">
                  <a:moveTo>
                    <a:pt x="0" y="102362"/>
                  </a:moveTo>
                  <a:cubicBezTo>
                    <a:pt x="0" y="45847"/>
                    <a:pt x="45847" y="0"/>
                    <a:pt x="102362" y="0"/>
                  </a:cubicBezTo>
                  <a:lnTo>
                    <a:pt x="4564507" y="0"/>
                  </a:lnTo>
                  <a:cubicBezTo>
                    <a:pt x="4621022" y="0"/>
                    <a:pt x="4666869" y="45847"/>
                    <a:pt x="4666869" y="102362"/>
                  </a:cubicBezTo>
                  <a:lnTo>
                    <a:pt x="4666869" y="614172"/>
                  </a:lnTo>
                  <a:cubicBezTo>
                    <a:pt x="4666869" y="670687"/>
                    <a:pt x="4621022" y="716534"/>
                    <a:pt x="4564507" y="716534"/>
                  </a:cubicBezTo>
                  <a:lnTo>
                    <a:pt x="102362" y="716534"/>
                  </a:lnTo>
                  <a:cubicBezTo>
                    <a:pt x="45847" y="716661"/>
                    <a:pt x="0" y="670814"/>
                    <a:pt x="0" y="614299"/>
                  </a:cubicBezTo>
                  <a:close/>
                </a:path>
              </a:pathLst>
            </a:custGeom>
            <a:solidFill>
              <a:srgbClr val="92400E"/>
            </a:solidFill>
            <a:ln w="25400" cap="sq">
              <a:solidFill>
                <a:srgbClr val="92400E"/>
              </a:solidFill>
              <a:prstDash val="solid"/>
              <a:miter/>
            </a:ln>
          </p:spPr>
        </p:sp>
      </p:grpSp>
      <p:grpSp>
        <p:nvGrpSpPr>
          <p:cNvPr name="Group 81" id="81"/>
          <p:cNvGrpSpPr/>
          <p:nvPr/>
        </p:nvGrpSpPr>
        <p:grpSpPr>
          <a:xfrm rot="0">
            <a:off x="9729216" y="8266176"/>
            <a:ext cx="3474720" cy="512064"/>
            <a:chOff x="0" y="0"/>
            <a:chExt cx="4632960" cy="68275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4632960" cy="682752"/>
            </a:xfrm>
            <a:custGeom>
              <a:avLst/>
              <a:gdLst/>
              <a:ahLst/>
              <a:cxnLst/>
              <a:rect r="r" b="b" t="t" l="l"/>
              <a:pathLst>
                <a:path h="682752" w="4632960">
                  <a:moveTo>
                    <a:pt x="0" y="0"/>
                  </a:moveTo>
                  <a:lnTo>
                    <a:pt x="4632960" y="0"/>
                  </a:lnTo>
                  <a:lnTo>
                    <a:pt x="46329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19" r="0" b="-82219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38100"/>
              <a:ext cx="46329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39"/>
                </a:lnSpc>
              </a:pPr>
              <a:r>
                <a:rPr lang="en-US" sz="17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Ordenamiento()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9765792" y="8851392"/>
            <a:ext cx="7717536" cy="548640"/>
            <a:chOff x="0" y="0"/>
            <a:chExt cx="10290048" cy="73152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10290048" cy="731520"/>
            </a:xfrm>
            <a:custGeom>
              <a:avLst/>
              <a:gdLst/>
              <a:ahLst/>
              <a:cxnLst/>
              <a:rect r="r" b="b" t="t" l="l"/>
              <a:pathLst>
                <a:path h="731520" w="10290048">
                  <a:moveTo>
                    <a:pt x="0" y="0"/>
                  </a:moveTo>
                  <a:lnTo>
                    <a:pt x="10290048" y="0"/>
                  </a:lnTo>
                  <a:lnTo>
                    <a:pt x="102900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4089" r="0" b="-224089"/>
              </a:stretch>
            </a:blipFill>
          </p:spPr>
        </p:sp>
        <p:sp>
          <p:nvSpPr>
            <p:cNvPr name="TextBox 86" id="86"/>
            <p:cNvSpPr txBox="true"/>
            <p:nvPr/>
          </p:nvSpPr>
          <p:spPr>
            <a:xfrm>
              <a:off x="0" y="-38100"/>
              <a:ext cx="1029004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Selección descendente sobre List&lt;Dato&gt;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8313403" cy="2037083"/>
            <a:chOff x="0" y="0"/>
            <a:chExt cx="24417871" cy="27161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17910" cy="2716149"/>
            </a:xfrm>
            <a:custGeom>
              <a:avLst/>
              <a:gdLst/>
              <a:ahLst/>
              <a:cxnLst/>
              <a:rect r="r" b="b" t="t" l="l"/>
              <a:pathLst>
                <a:path h="2716149" w="24417910">
                  <a:moveTo>
                    <a:pt x="0" y="0"/>
                  </a:moveTo>
                  <a:lnTo>
                    <a:pt x="24417910" y="0"/>
                  </a:lnTo>
                  <a:lnTo>
                    <a:pt x="24417910" y="2716149"/>
                  </a:lnTo>
                  <a:lnTo>
                    <a:pt x="0" y="2716149"/>
                  </a:lnTo>
                  <a:close/>
                </a:path>
              </a:pathLst>
            </a:custGeom>
            <a:solidFill>
              <a:srgbClr val="1E2761"/>
            </a:solidFill>
            <a:ln w="25400" cap="sq">
              <a:solidFill>
                <a:srgbClr val="1E2761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423" r="0" b="-109423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9525"/>
              <a:ext cx="21945600" cy="2691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9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Comparación de Algoritmos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27383" y="2181863"/>
            <a:ext cx="8072123" cy="7523483"/>
            <a:chOff x="0" y="0"/>
            <a:chExt cx="10762831" cy="1003131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762869" cy="10031349"/>
            </a:xfrm>
            <a:custGeom>
              <a:avLst/>
              <a:gdLst/>
              <a:ahLst/>
              <a:cxnLst/>
              <a:rect r="r" b="b" t="t" l="l"/>
              <a:pathLst>
                <a:path h="10031349" w="10762869">
                  <a:moveTo>
                    <a:pt x="0" y="293624"/>
                  </a:moveTo>
                  <a:cubicBezTo>
                    <a:pt x="0" y="131445"/>
                    <a:pt x="131445" y="0"/>
                    <a:pt x="293624" y="0"/>
                  </a:cubicBezTo>
                  <a:lnTo>
                    <a:pt x="10469245" y="0"/>
                  </a:lnTo>
                  <a:cubicBezTo>
                    <a:pt x="10631424" y="0"/>
                    <a:pt x="10762869" y="131445"/>
                    <a:pt x="10762869" y="293624"/>
                  </a:cubicBezTo>
                  <a:lnTo>
                    <a:pt x="10762869" y="9737725"/>
                  </a:lnTo>
                  <a:cubicBezTo>
                    <a:pt x="10762869" y="9899904"/>
                    <a:pt x="10631424" y="10031349"/>
                    <a:pt x="10469245" y="10031349"/>
                  </a:cubicBezTo>
                  <a:lnTo>
                    <a:pt x="293624" y="10031349"/>
                  </a:lnTo>
                  <a:cubicBezTo>
                    <a:pt x="131445" y="10031349"/>
                    <a:pt x="0" y="9899904"/>
                    <a:pt x="0" y="9737725"/>
                  </a:cubicBezTo>
                  <a:close/>
                </a:path>
              </a:pathLst>
            </a:custGeom>
            <a:solidFill>
              <a:srgbClr val="EFF6FF"/>
            </a:solidFill>
            <a:ln w="25400" cap="sq">
              <a:solidFill>
                <a:srgbClr val="BFDBFE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914400" y="2377440"/>
            <a:ext cx="7498080" cy="822960"/>
            <a:chOff x="0" y="0"/>
            <a:chExt cx="9997440" cy="10972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99744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7530" r="0" b="-12753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9997440" cy="11449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sz="2799" b="true">
                  <a:solidFill>
                    <a:srgbClr val="1A56B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🔷  BuscarConHeap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005840" y="3383280"/>
            <a:ext cx="7315200" cy="914400"/>
            <a:chOff x="0" y="0"/>
            <a:chExt cx="9753600" cy="1219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9753600" cy="12668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Contar ocurrencias con Dictionary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05840" y="4480560"/>
            <a:ext cx="7315200" cy="914400"/>
            <a:chOff x="0" y="0"/>
            <a:chExt cx="9753600" cy="12192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9753600" cy="12668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Construir Max-Heap con FiltrarArriba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05840" y="5577840"/>
            <a:ext cx="7315200" cy="914400"/>
            <a:chOff x="0" y="0"/>
            <a:chExt cx="9753600" cy="12192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47625"/>
              <a:ext cx="9753600" cy="12668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Extraer raíz N veces con FiltrarAbajo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005840" y="6675120"/>
            <a:ext cx="7315200" cy="914400"/>
            <a:chOff x="0" y="0"/>
            <a:chExt cx="9753600" cy="12192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9753600" cy="12668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Complejidad: O(n log n)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005840" y="7772400"/>
            <a:ext cx="7315200" cy="914400"/>
            <a:chOff x="0" y="0"/>
            <a:chExt cx="9753600" cy="12192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9753600" cy="12668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Eficiente para datasets grandes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8308343" y="5107943"/>
            <a:ext cx="1671323" cy="1671323"/>
            <a:chOff x="0" y="0"/>
            <a:chExt cx="2228431" cy="222843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28342" cy="2228342"/>
            </a:xfrm>
            <a:custGeom>
              <a:avLst/>
              <a:gdLst/>
              <a:ahLst/>
              <a:cxnLst/>
              <a:rect r="r" b="b" t="t" l="l"/>
              <a:pathLst>
                <a:path h="2228342" w="2228342">
                  <a:moveTo>
                    <a:pt x="0" y="1114171"/>
                  </a:moveTo>
                  <a:cubicBezTo>
                    <a:pt x="0" y="498856"/>
                    <a:pt x="498856" y="0"/>
                    <a:pt x="1114171" y="0"/>
                  </a:cubicBezTo>
                  <a:cubicBezTo>
                    <a:pt x="1729486" y="0"/>
                    <a:pt x="2228342" y="498856"/>
                    <a:pt x="2228342" y="1114171"/>
                  </a:cubicBezTo>
                  <a:cubicBezTo>
                    <a:pt x="2228342" y="1729486"/>
                    <a:pt x="1729486" y="2228342"/>
                    <a:pt x="1114171" y="2228342"/>
                  </a:cubicBezTo>
                  <a:cubicBezTo>
                    <a:pt x="498856" y="2228342"/>
                    <a:pt x="0" y="1729613"/>
                    <a:pt x="0" y="1114171"/>
                  </a:cubicBezTo>
                  <a:close/>
                </a:path>
              </a:pathLst>
            </a:custGeom>
            <a:solidFill>
              <a:srgbClr val="F9A825"/>
            </a:solidFill>
            <a:ln w="25400" cap="sq">
              <a:solidFill>
                <a:srgbClr val="F9A825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8321040" y="5120640"/>
            <a:ext cx="1645920" cy="1645920"/>
            <a:chOff x="0" y="0"/>
            <a:chExt cx="2194560" cy="219456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19456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2194560" cy="22421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  <a:r>
                <a:rPr lang="en-US" sz="2799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VS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588503" y="2181863"/>
            <a:ext cx="8072123" cy="7523483"/>
            <a:chOff x="0" y="0"/>
            <a:chExt cx="10762831" cy="1003131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762869" cy="10031349"/>
            </a:xfrm>
            <a:custGeom>
              <a:avLst/>
              <a:gdLst/>
              <a:ahLst/>
              <a:cxnLst/>
              <a:rect r="r" b="b" t="t" l="l"/>
              <a:pathLst>
                <a:path h="10031349" w="10762869">
                  <a:moveTo>
                    <a:pt x="0" y="293624"/>
                  </a:moveTo>
                  <a:cubicBezTo>
                    <a:pt x="0" y="131445"/>
                    <a:pt x="131445" y="0"/>
                    <a:pt x="293624" y="0"/>
                  </a:cubicBezTo>
                  <a:lnTo>
                    <a:pt x="10469245" y="0"/>
                  </a:lnTo>
                  <a:cubicBezTo>
                    <a:pt x="10631424" y="0"/>
                    <a:pt x="10762869" y="131445"/>
                    <a:pt x="10762869" y="293624"/>
                  </a:cubicBezTo>
                  <a:lnTo>
                    <a:pt x="10762869" y="9737725"/>
                  </a:lnTo>
                  <a:cubicBezTo>
                    <a:pt x="10762869" y="9899904"/>
                    <a:pt x="10631424" y="10031349"/>
                    <a:pt x="10469245" y="10031349"/>
                  </a:cubicBezTo>
                  <a:lnTo>
                    <a:pt x="293624" y="10031349"/>
                  </a:lnTo>
                  <a:cubicBezTo>
                    <a:pt x="131445" y="10031349"/>
                    <a:pt x="0" y="9899904"/>
                    <a:pt x="0" y="9737725"/>
                  </a:cubicBezTo>
                  <a:close/>
                </a:path>
              </a:pathLst>
            </a:custGeom>
            <a:solidFill>
              <a:srgbClr val="F0FDF4"/>
            </a:solidFill>
            <a:ln w="25400" cap="sq">
              <a:solidFill>
                <a:srgbClr val="BBF7D0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9875520" y="2377440"/>
            <a:ext cx="7498080" cy="822960"/>
            <a:chOff x="0" y="0"/>
            <a:chExt cx="9997440" cy="10972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9997440" cy="1097280"/>
            </a:xfrm>
            <a:custGeom>
              <a:avLst/>
              <a:gdLst/>
              <a:ahLst/>
              <a:cxnLst/>
              <a:rect r="r" b="b" t="t" l="l"/>
              <a:pathLst>
                <a:path h="1097280" w="9997440">
                  <a:moveTo>
                    <a:pt x="0" y="0"/>
                  </a:moveTo>
                  <a:lnTo>
                    <a:pt x="9997440" y="0"/>
                  </a:lnTo>
                  <a:lnTo>
                    <a:pt x="999744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7530" r="0" b="-12753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47625"/>
              <a:ext cx="9997440" cy="11449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sz="2799" b="true">
                  <a:solidFill>
                    <a:srgbClr val="065F4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🔶  BuscarConOtro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9875520" y="3383280"/>
            <a:ext cx="7315200" cy="914400"/>
            <a:chOff x="0" y="0"/>
            <a:chExt cx="9753600" cy="12192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47625"/>
              <a:ext cx="9753600" cy="12668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Contar ocurrencias con Dictionary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9875520" y="4480560"/>
            <a:ext cx="7315200" cy="914400"/>
            <a:chOff x="0" y="0"/>
            <a:chExt cx="9753600" cy="12192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9753600" cy="12668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Crear List&lt;Dato&gt; con todos los pares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9875520" y="5577840"/>
            <a:ext cx="7315200" cy="914400"/>
            <a:chOff x="0" y="0"/>
            <a:chExt cx="9753600" cy="12192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9753600" cy="12668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Ordenar por selección descendente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9875520" y="6675120"/>
            <a:ext cx="7315200" cy="914400"/>
            <a:chOff x="0" y="0"/>
            <a:chExt cx="9753600" cy="12192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47625"/>
              <a:ext cx="9753600" cy="12668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Tomar los primeros N elementos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9875520" y="7772400"/>
            <a:ext cx="7315200" cy="914400"/>
            <a:chOff x="0" y="0"/>
            <a:chExt cx="9753600" cy="12192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9753600" cy="1219200"/>
            </a:xfrm>
            <a:custGeom>
              <a:avLst/>
              <a:gdLst/>
              <a:ahLst/>
              <a:cxnLst/>
              <a:rect r="r" b="b" t="t" l="l"/>
              <a:pathLst>
                <a:path h="1219200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47625"/>
              <a:ext cx="9753600" cy="12668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1E276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▸  Complejidad: O(n²)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8313403" cy="2037083"/>
            <a:chOff x="0" y="0"/>
            <a:chExt cx="24417871" cy="27161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17910" cy="2716149"/>
            </a:xfrm>
            <a:custGeom>
              <a:avLst/>
              <a:gdLst/>
              <a:ahLst/>
              <a:cxnLst/>
              <a:rect r="r" b="b" t="t" l="l"/>
              <a:pathLst>
                <a:path h="2716149" w="24417910">
                  <a:moveTo>
                    <a:pt x="0" y="0"/>
                  </a:moveTo>
                  <a:lnTo>
                    <a:pt x="24417910" y="0"/>
                  </a:lnTo>
                  <a:lnTo>
                    <a:pt x="24417910" y="2716149"/>
                  </a:lnTo>
                  <a:lnTo>
                    <a:pt x="0" y="2716149"/>
                  </a:lnTo>
                  <a:close/>
                </a:path>
              </a:pathLst>
            </a:custGeom>
            <a:solidFill>
              <a:srgbClr val="0F1B4C"/>
            </a:solidFill>
            <a:ln w="25400" cap="sq">
              <a:solidFill>
                <a:srgbClr val="0F1B4C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423" r="0" b="-109423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9525"/>
              <a:ext cx="21945600" cy="2691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9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Consultas del Sistema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27383" y="2273303"/>
            <a:ext cx="17033243" cy="2366267"/>
            <a:chOff x="0" y="0"/>
            <a:chExt cx="22710991" cy="315502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711029" cy="3155061"/>
            </a:xfrm>
            <a:custGeom>
              <a:avLst/>
              <a:gdLst/>
              <a:ahLst/>
              <a:cxnLst/>
              <a:rect r="r" b="b" t="t" l="l"/>
              <a:pathLst>
                <a:path h="3155061" w="22711029">
                  <a:moveTo>
                    <a:pt x="0" y="246507"/>
                  </a:moveTo>
                  <a:cubicBezTo>
                    <a:pt x="0" y="110363"/>
                    <a:pt x="110363" y="0"/>
                    <a:pt x="246507" y="0"/>
                  </a:cubicBezTo>
                  <a:lnTo>
                    <a:pt x="22464522" y="0"/>
                  </a:lnTo>
                  <a:cubicBezTo>
                    <a:pt x="22600665" y="0"/>
                    <a:pt x="22711029" y="110363"/>
                    <a:pt x="22711029" y="246507"/>
                  </a:cubicBezTo>
                  <a:lnTo>
                    <a:pt x="22711029" y="2908554"/>
                  </a:lnTo>
                  <a:cubicBezTo>
                    <a:pt x="22711029" y="3044698"/>
                    <a:pt x="22600665" y="3155061"/>
                    <a:pt x="22464522" y="3155061"/>
                  </a:cubicBezTo>
                  <a:lnTo>
                    <a:pt x="246507" y="3155061"/>
                  </a:lnTo>
                  <a:cubicBezTo>
                    <a:pt x="110363" y="3155061"/>
                    <a:pt x="0" y="3044698"/>
                    <a:pt x="0" y="290855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901703" y="2821943"/>
            <a:ext cx="1214123" cy="1214123"/>
            <a:chOff x="0" y="0"/>
            <a:chExt cx="1618831" cy="161883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618742" cy="1618742"/>
            </a:xfrm>
            <a:custGeom>
              <a:avLst/>
              <a:gdLst/>
              <a:ahLst/>
              <a:cxnLst/>
              <a:rect r="r" b="b" t="t" l="l"/>
              <a:pathLst>
                <a:path h="1618742" w="1618742">
                  <a:moveTo>
                    <a:pt x="0" y="809371"/>
                  </a:moveTo>
                  <a:cubicBezTo>
                    <a:pt x="0" y="362331"/>
                    <a:pt x="362331" y="0"/>
                    <a:pt x="809371" y="0"/>
                  </a:cubicBezTo>
                  <a:cubicBezTo>
                    <a:pt x="1256411" y="0"/>
                    <a:pt x="1618742" y="362331"/>
                    <a:pt x="1618742" y="809371"/>
                  </a:cubicBezTo>
                  <a:cubicBezTo>
                    <a:pt x="1618742" y="1256411"/>
                    <a:pt x="1256411" y="1618742"/>
                    <a:pt x="809371" y="1618742"/>
                  </a:cubicBezTo>
                  <a:cubicBezTo>
                    <a:pt x="362331" y="1618742"/>
                    <a:pt x="0" y="1256411"/>
                    <a:pt x="0" y="809371"/>
                  </a:cubicBezTo>
                  <a:close/>
                </a:path>
              </a:pathLst>
            </a:custGeom>
            <a:solidFill>
              <a:srgbClr val="BE123C"/>
            </a:solidFill>
            <a:ln w="25400" cap="sq">
              <a:solidFill>
                <a:srgbClr val="BE123C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914400" y="2834640"/>
            <a:ext cx="1188720" cy="1188720"/>
            <a:chOff x="0" y="0"/>
            <a:chExt cx="1584960" cy="15849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584960" cy="1584960"/>
            </a:xfrm>
            <a:custGeom>
              <a:avLst/>
              <a:gdLst/>
              <a:ahLst/>
              <a:cxnLst/>
              <a:rect r="r" b="b" t="t" l="l"/>
              <a:pathLst>
                <a:path h="158496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584960" cy="16230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C1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377440" y="2432304"/>
            <a:ext cx="14447520" cy="585216"/>
            <a:chOff x="0" y="0"/>
            <a:chExt cx="19263360" cy="78028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263361" cy="780288"/>
            </a:xfrm>
            <a:custGeom>
              <a:avLst/>
              <a:gdLst/>
              <a:ahLst/>
              <a:cxnLst/>
              <a:rect r="r" b="b" t="t" l="l"/>
              <a:pathLst>
                <a:path h="780288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1036" r="0" b="-431036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19263360" cy="8374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BE123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Consulta1 – Comparación de Tiempos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377440" y="3054096"/>
            <a:ext cx="14447520" cy="1371600"/>
            <a:chOff x="0" y="0"/>
            <a:chExt cx="19263360" cy="1828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263361" cy="1828800"/>
            </a:xfrm>
            <a:custGeom>
              <a:avLst/>
              <a:gdLst/>
              <a:ahLst/>
              <a:cxnLst/>
              <a:rect r="r" b="b" t="t" l="l"/>
              <a:pathLst>
                <a:path h="182880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5242" r="0" b="-155242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9263360" cy="18669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• Ejecuta BuscarConHeap y BuscarConOtro cronometrados   • Retorna string: "Heap: X ms  |  Ordenamiento: Y ms"   • Permite comparar rendimiento en tiempo real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627383" y="4870199"/>
            <a:ext cx="17033243" cy="2366267"/>
            <a:chOff x="0" y="0"/>
            <a:chExt cx="22710991" cy="315502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711029" cy="3155061"/>
            </a:xfrm>
            <a:custGeom>
              <a:avLst/>
              <a:gdLst/>
              <a:ahLst/>
              <a:cxnLst/>
              <a:rect r="r" b="b" t="t" l="l"/>
              <a:pathLst>
                <a:path h="3155061" w="22711029">
                  <a:moveTo>
                    <a:pt x="0" y="246507"/>
                  </a:moveTo>
                  <a:cubicBezTo>
                    <a:pt x="0" y="110363"/>
                    <a:pt x="110363" y="0"/>
                    <a:pt x="246507" y="0"/>
                  </a:cubicBezTo>
                  <a:lnTo>
                    <a:pt x="22464522" y="0"/>
                  </a:lnTo>
                  <a:cubicBezTo>
                    <a:pt x="22600665" y="0"/>
                    <a:pt x="22711029" y="110363"/>
                    <a:pt x="22711029" y="246507"/>
                  </a:cubicBezTo>
                  <a:lnTo>
                    <a:pt x="22711029" y="2908554"/>
                  </a:lnTo>
                  <a:cubicBezTo>
                    <a:pt x="22711029" y="3044698"/>
                    <a:pt x="22600665" y="3155061"/>
                    <a:pt x="22464522" y="3155061"/>
                  </a:cubicBezTo>
                  <a:lnTo>
                    <a:pt x="246507" y="3155061"/>
                  </a:lnTo>
                  <a:cubicBezTo>
                    <a:pt x="110363" y="3155061"/>
                    <a:pt x="0" y="3044698"/>
                    <a:pt x="0" y="290855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901703" y="5418839"/>
            <a:ext cx="1214123" cy="1214123"/>
            <a:chOff x="0" y="0"/>
            <a:chExt cx="1618831" cy="161883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618742" cy="1618742"/>
            </a:xfrm>
            <a:custGeom>
              <a:avLst/>
              <a:gdLst/>
              <a:ahLst/>
              <a:cxnLst/>
              <a:rect r="r" b="b" t="t" l="l"/>
              <a:pathLst>
                <a:path h="1618742" w="1618742">
                  <a:moveTo>
                    <a:pt x="0" y="809371"/>
                  </a:moveTo>
                  <a:cubicBezTo>
                    <a:pt x="0" y="362331"/>
                    <a:pt x="362331" y="0"/>
                    <a:pt x="809371" y="0"/>
                  </a:cubicBezTo>
                  <a:cubicBezTo>
                    <a:pt x="1256411" y="0"/>
                    <a:pt x="1618742" y="362331"/>
                    <a:pt x="1618742" y="809371"/>
                  </a:cubicBezTo>
                  <a:cubicBezTo>
                    <a:pt x="1618742" y="1256411"/>
                    <a:pt x="1256411" y="1618742"/>
                    <a:pt x="809371" y="1618742"/>
                  </a:cubicBezTo>
                  <a:cubicBezTo>
                    <a:pt x="362331" y="1618742"/>
                    <a:pt x="0" y="1256411"/>
                    <a:pt x="0" y="809371"/>
                  </a:cubicBezTo>
                  <a:close/>
                </a:path>
              </a:pathLst>
            </a:custGeom>
            <a:solidFill>
              <a:srgbClr val="0369A1"/>
            </a:solidFill>
            <a:ln w="25400" cap="sq">
              <a:solidFill>
                <a:srgbClr val="0369A1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914400" y="5431536"/>
            <a:ext cx="1188720" cy="1188720"/>
            <a:chOff x="0" y="0"/>
            <a:chExt cx="1584960" cy="158496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584960" cy="1584960"/>
            </a:xfrm>
            <a:custGeom>
              <a:avLst/>
              <a:gdLst/>
              <a:ahLst/>
              <a:cxnLst/>
              <a:rect r="r" b="b" t="t" l="l"/>
              <a:pathLst>
                <a:path h="158496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1584960" cy="16230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C2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2377440" y="5029200"/>
            <a:ext cx="14447520" cy="585216"/>
            <a:chOff x="0" y="0"/>
            <a:chExt cx="19263360" cy="78028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9263361" cy="780288"/>
            </a:xfrm>
            <a:custGeom>
              <a:avLst/>
              <a:gdLst/>
              <a:ahLst/>
              <a:cxnLst/>
              <a:rect r="r" b="b" t="t" l="l"/>
              <a:pathLst>
                <a:path h="780288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1036" r="0" b="-431036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19263360" cy="8374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0369A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Consulta2 – Camino a la Hoja Izquierda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2377440" y="5650992"/>
            <a:ext cx="14447520" cy="1371600"/>
            <a:chOff x="0" y="0"/>
            <a:chExt cx="19263360" cy="18288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9263361" cy="1828800"/>
            </a:xfrm>
            <a:custGeom>
              <a:avLst/>
              <a:gdLst/>
              <a:ahLst/>
              <a:cxnLst/>
              <a:rect r="r" b="b" t="t" l="l"/>
              <a:pathLst>
                <a:path h="182880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5242" r="0" b="-155242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9263360" cy="18669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• Construye el Heap y recorre siempre el hijo izquierdo   • Acumula los nodos visitados en un string   • Visualiza la rama más profunda a la izquierda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627383" y="7467095"/>
            <a:ext cx="17033243" cy="2366267"/>
            <a:chOff x="0" y="0"/>
            <a:chExt cx="22710991" cy="3155023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2711029" cy="3155061"/>
            </a:xfrm>
            <a:custGeom>
              <a:avLst/>
              <a:gdLst/>
              <a:ahLst/>
              <a:cxnLst/>
              <a:rect r="r" b="b" t="t" l="l"/>
              <a:pathLst>
                <a:path h="3155061" w="22711029">
                  <a:moveTo>
                    <a:pt x="0" y="246507"/>
                  </a:moveTo>
                  <a:cubicBezTo>
                    <a:pt x="0" y="110363"/>
                    <a:pt x="110363" y="0"/>
                    <a:pt x="246507" y="0"/>
                  </a:cubicBezTo>
                  <a:lnTo>
                    <a:pt x="22464522" y="0"/>
                  </a:lnTo>
                  <a:cubicBezTo>
                    <a:pt x="22600665" y="0"/>
                    <a:pt x="22711029" y="110363"/>
                    <a:pt x="22711029" y="246507"/>
                  </a:cubicBezTo>
                  <a:lnTo>
                    <a:pt x="22711029" y="2908554"/>
                  </a:lnTo>
                  <a:cubicBezTo>
                    <a:pt x="22711029" y="3044698"/>
                    <a:pt x="22600665" y="3155061"/>
                    <a:pt x="22464522" y="3155061"/>
                  </a:cubicBezTo>
                  <a:lnTo>
                    <a:pt x="246507" y="3155061"/>
                  </a:lnTo>
                  <a:cubicBezTo>
                    <a:pt x="110363" y="3155061"/>
                    <a:pt x="0" y="3044698"/>
                    <a:pt x="0" y="290855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901703" y="8015735"/>
            <a:ext cx="1214123" cy="1214123"/>
            <a:chOff x="0" y="0"/>
            <a:chExt cx="1618831" cy="161883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618742" cy="1618742"/>
            </a:xfrm>
            <a:custGeom>
              <a:avLst/>
              <a:gdLst/>
              <a:ahLst/>
              <a:cxnLst/>
              <a:rect r="r" b="b" t="t" l="l"/>
              <a:pathLst>
                <a:path h="1618742" w="1618742">
                  <a:moveTo>
                    <a:pt x="0" y="809371"/>
                  </a:moveTo>
                  <a:cubicBezTo>
                    <a:pt x="0" y="362331"/>
                    <a:pt x="362331" y="0"/>
                    <a:pt x="809371" y="0"/>
                  </a:cubicBezTo>
                  <a:cubicBezTo>
                    <a:pt x="1256411" y="0"/>
                    <a:pt x="1618742" y="362331"/>
                    <a:pt x="1618742" y="809371"/>
                  </a:cubicBezTo>
                  <a:cubicBezTo>
                    <a:pt x="1618742" y="1256411"/>
                    <a:pt x="1256411" y="1618742"/>
                    <a:pt x="809371" y="1618742"/>
                  </a:cubicBezTo>
                  <a:cubicBezTo>
                    <a:pt x="362331" y="1618742"/>
                    <a:pt x="0" y="1256411"/>
                    <a:pt x="0" y="809371"/>
                  </a:cubicBezTo>
                  <a:close/>
                </a:path>
              </a:pathLst>
            </a:custGeom>
            <a:solidFill>
              <a:srgbClr val="065F46"/>
            </a:solidFill>
            <a:ln w="25400" cap="sq">
              <a:solidFill>
                <a:srgbClr val="065F46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914400" y="8028432"/>
            <a:ext cx="1188720" cy="1188720"/>
            <a:chOff x="0" y="0"/>
            <a:chExt cx="1584960" cy="158496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584960" cy="1584960"/>
            </a:xfrm>
            <a:custGeom>
              <a:avLst/>
              <a:gdLst/>
              <a:ahLst/>
              <a:cxnLst/>
              <a:rect r="r" b="b" t="t" l="l"/>
              <a:pathLst>
                <a:path h="1584960" w="1584960">
                  <a:moveTo>
                    <a:pt x="0" y="0"/>
                  </a:moveTo>
                  <a:lnTo>
                    <a:pt x="1584960" y="0"/>
                  </a:lnTo>
                  <a:lnTo>
                    <a:pt x="1584960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1584960" cy="16230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C3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2377440" y="7626096"/>
            <a:ext cx="14447520" cy="585216"/>
            <a:chOff x="0" y="0"/>
            <a:chExt cx="19263360" cy="78028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9263361" cy="780288"/>
            </a:xfrm>
            <a:custGeom>
              <a:avLst/>
              <a:gdLst/>
              <a:ahLst/>
              <a:cxnLst/>
              <a:rect r="r" b="b" t="t" l="l"/>
              <a:pathLst>
                <a:path h="780288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31036" r="0" b="-431036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57150"/>
              <a:ext cx="19263360" cy="8374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065F4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Consulta3 – Niveles del Heap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2377440" y="8247888"/>
            <a:ext cx="14447520" cy="1371600"/>
            <a:chOff x="0" y="0"/>
            <a:chExt cx="19263360" cy="18288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9263361" cy="1828800"/>
            </a:xfrm>
            <a:custGeom>
              <a:avLst/>
              <a:gdLst/>
              <a:ahLst/>
              <a:cxnLst/>
              <a:rect r="r" b="b" t="t" l="l"/>
              <a:pathLst>
                <a:path h="182880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5242" r="0" b="-155242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19263360" cy="18669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• Recorre el arreglo heap de izquierda a derecha   • Detecta cambio de nivel cuando contador == capActual   • Retorna cada nodo etiquetado con su nivel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8313403" cy="2037083"/>
            <a:chOff x="0" y="0"/>
            <a:chExt cx="24417871" cy="27161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17910" cy="2716149"/>
            </a:xfrm>
            <a:custGeom>
              <a:avLst/>
              <a:gdLst/>
              <a:ahLst/>
              <a:cxnLst/>
              <a:rect r="r" b="b" t="t" l="l"/>
              <a:pathLst>
                <a:path h="2716149" w="24417910">
                  <a:moveTo>
                    <a:pt x="0" y="0"/>
                  </a:moveTo>
                  <a:lnTo>
                    <a:pt x="24417910" y="0"/>
                  </a:lnTo>
                  <a:lnTo>
                    <a:pt x="24417910" y="2716149"/>
                  </a:lnTo>
                  <a:lnTo>
                    <a:pt x="0" y="2716149"/>
                  </a:lnTo>
                  <a:close/>
                </a:path>
              </a:pathLst>
            </a:custGeom>
            <a:solidFill>
              <a:srgbClr val="1E2761"/>
            </a:solidFill>
            <a:ln w="25400" cap="sq">
              <a:solidFill>
                <a:srgbClr val="1E2761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423" r="0" b="-109423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9525"/>
              <a:ext cx="21945600" cy="2691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9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Estructura del Max-Heap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387401" y="2906035"/>
            <a:ext cx="17513199" cy="1461107"/>
            <a:chOff x="0" y="0"/>
            <a:chExt cx="23350932" cy="194814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3350772" cy="1948040"/>
            </a:xfrm>
            <a:custGeom>
              <a:avLst/>
              <a:gdLst/>
              <a:ahLst/>
              <a:cxnLst/>
              <a:rect r="r" b="b" t="t" l="l"/>
              <a:pathLst>
                <a:path h="1948040" w="23350772">
                  <a:moveTo>
                    <a:pt x="0" y="229138"/>
                  </a:moveTo>
                  <a:cubicBezTo>
                    <a:pt x="0" y="102652"/>
                    <a:pt x="160667" y="0"/>
                    <a:pt x="358641" y="0"/>
                  </a:cubicBezTo>
                  <a:lnTo>
                    <a:pt x="22992130" y="0"/>
                  </a:lnTo>
                  <a:cubicBezTo>
                    <a:pt x="23190333" y="0"/>
                    <a:pt x="23350772" y="102652"/>
                    <a:pt x="23350772" y="229138"/>
                  </a:cubicBezTo>
                  <a:lnTo>
                    <a:pt x="23350772" y="1718902"/>
                  </a:lnTo>
                  <a:cubicBezTo>
                    <a:pt x="23350772" y="1845535"/>
                    <a:pt x="23190104" y="1948040"/>
                    <a:pt x="22992130" y="1948040"/>
                  </a:cubicBezTo>
                  <a:lnTo>
                    <a:pt x="358641" y="1948040"/>
                  </a:lnTo>
                  <a:cubicBezTo>
                    <a:pt x="160667" y="1948181"/>
                    <a:pt x="0" y="1845535"/>
                    <a:pt x="0" y="1718902"/>
                  </a:cubicBezTo>
                  <a:close/>
                </a:path>
              </a:pathLst>
            </a:custGeom>
            <a:solidFill>
              <a:srgbClr val="E8EEF9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904643" y="3002129"/>
            <a:ext cx="16478697" cy="552979"/>
            <a:chOff x="0" y="0"/>
            <a:chExt cx="21971596" cy="73730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71595" cy="737305"/>
            </a:xfrm>
            <a:custGeom>
              <a:avLst/>
              <a:gdLst/>
              <a:ahLst/>
              <a:cxnLst/>
              <a:rect r="r" b="b" t="t" l="l"/>
              <a:pathLst>
                <a:path h="737305" w="21971595">
                  <a:moveTo>
                    <a:pt x="0" y="0"/>
                  </a:moveTo>
                  <a:lnTo>
                    <a:pt x="21971595" y="0"/>
                  </a:lnTo>
                  <a:lnTo>
                    <a:pt x="21971595" y="737305"/>
                  </a:lnTo>
                  <a:lnTo>
                    <a:pt x="0" y="7373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9209" r="44510" b="-265195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21971596" cy="7754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Arreglo subyacente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04643" y="3636583"/>
            <a:ext cx="16478697" cy="589588"/>
            <a:chOff x="0" y="0"/>
            <a:chExt cx="21971596" cy="78611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971595" cy="786118"/>
            </a:xfrm>
            <a:custGeom>
              <a:avLst/>
              <a:gdLst/>
              <a:ahLst/>
              <a:cxnLst/>
              <a:rect r="r" b="b" t="t" l="l"/>
              <a:pathLst>
                <a:path h="786118" w="21971595">
                  <a:moveTo>
                    <a:pt x="0" y="0"/>
                  </a:moveTo>
                  <a:lnTo>
                    <a:pt x="21971595" y="0"/>
                  </a:lnTo>
                  <a:lnTo>
                    <a:pt x="21971595" y="786118"/>
                  </a:lnTo>
                  <a:lnTo>
                    <a:pt x="0" y="7861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8770" r="44510" b="-245621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1971596" cy="8242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Dato[] heap — representación compacta en memoria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87401" y="4632687"/>
            <a:ext cx="17513199" cy="1461107"/>
            <a:chOff x="0" y="0"/>
            <a:chExt cx="23350932" cy="19481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3350772" cy="1948040"/>
            </a:xfrm>
            <a:custGeom>
              <a:avLst/>
              <a:gdLst/>
              <a:ahLst/>
              <a:cxnLst/>
              <a:rect r="r" b="b" t="t" l="l"/>
              <a:pathLst>
                <a:path h="1948040" w="23350772">
                  <a:moveTo>
                    <a:pt x="0" y="229138"/>
                  </a:moveTo>
                  <a:cubicBezTo>
                    <a:pt x="0" y="102652"/>
                    <a:pt x="160667" y="0"/>
                    <a:pt x="358641" y="0"/>
                  </a:cubicBezTo>
                  <a:lnTo>
                    <a:pt x="22992130" y="0"/>
                  </a:lnTo>
                  <a:cubicBezTo>
                    <a:pt x="23190333" y="0"/>
                    <a:pt x="23350772" y="102652"/>
                    <a:pt x="23350772" y="229138"/>
                  </a:cubicBezTo>
                  <a:lnTo>
                    <a:pt x="23350772" y="1718902"/>
                  </a:lnTo>
                  <a:cubicBezTo>
                    <a:pt x="23350772" y="1845535"/>
                    <a:pt x="23190104" y="1948040"/>
                    <a:pt x="22992130" y="1948040"/>
                  </a:cubicBezTo>
                  <a:lnTo>
                    <a:pt x="358641" y="1948040"/>
                  </a:lnTo>
                  <a:cubicBezTo>
                    <a:pt x="160667" y="1948181"/>
                    <a:pt x="0" y="1845535"/>
                    <a:pt x="0" y="1718902"/>
                  </a:cubicBezTo>
                  <a:close/>
                </a:path>
              </a:pathLst>
            </a:custGeom>
            <a:solidFill>
              <a:srgbClr val="E8EEF9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904643" y="4728781"/>
            <a:ext cx="16478697" cy="552979"/>
            <a:chOff x="0" y="0"/>
            <a:chExt cx="21971596" cy="73730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71595" cy="737305"/>
            </a:xfrm>
            <a:custGeom>
              <a:avLst/>
              <a:gdLst/>
              <a:ahLst/>
              <a:cxnLst/>
              <a:rect r="r" b="b" t="t" l="l"/>
              <a:pathLst>
                <a:path h="737305" w="21971595">
                  <a:moveTo>
                    <a:pt x="0" y="0"/>
                  </a:moveTo>
                  <a:lnTo>
                    <a:pt x="21971595" y="0"/>
                  </a:lnTo>
                  <a:lnTo>
                    <a:pt x="21971595" y="737305"/>
                  </a:lnTo>
                  <a:lnTo>
                    <a:pt x="0" y="7373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9209" r="44510" b="-26519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71596" cy="7754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Propiedad Max-Heap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04643" y="5363235"/>
            <a:ext cx="16478697" cy="589588"/>
            <a:chOff x="0" y="0"/>
            <a:chExt cx="21971596" cy="78611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971595" cy="786118"/>
            </a:xfrm>
            <a:custGeom>
              <a:avLst/>
              <a:gdLst/>
              <a:ahLst/>
              <a:cxnLst/>
              <a:rect r="r" b="b" t="t" l="l"/>
              <a:pathLst>
                <a:path h="786118" w="21971595">
                  <a:moveTo>
                    <a:pt x="0" y="0"/>
                  </a:moveTo>
                  <a:lnTo>
                    <a:pt x="21971595" y="0"/>
                  </a:lnTo>
                  <a:lnTo>
                    <a:pt x="21971595" y="786118"/>
                  </a:lnTo>
                  <a:lnTo>
                    <a:pt x="0" y="7861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8770" r="44510" b="-245621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21971596" cy="8242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heap[padre].ocurrencia ≥ heap[hijo].ocurrencia siempre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87401" y="6359339"/>
            <a:ext cx="17513199" cy="1461107"/>
            <a:chOff x="0" y="0"/>
            <a:chExt cx="23350932" cy="1948143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3350772" cy="1948040"/>
            </a:xfrm>
            <a:custGeom>
              <a:avLst/>
              <a:gdLst/>
              <a:ahLst/>
              <a:cxnLst/>
              <a:rect r="r" b="b" t="t" l="l"/>
              <a:pathLst>
                <a:path h="1948040" w="23350772">
                  <a:moveTo>
                    <a:pt x="0" y="229138"/>
                  </a:moveTo>
                  <a:cubicBezTo>
                    <a:pt x="0" y="102652"/>
                    <a:pt x="160667" y="0"/>
                    <a:pt x="358641" y="0"/>
                  </a:cubicBezTo>
                  <a:lnTo>
                    <a:pt x="22992130" y="0"/>
                  </a:lnTo>
                  <a:cubicBezTo>
                    <a:pt x="23190333" y="0"/>
                    <a:pt x="23350772" y="102652"/>
                    <a:pt x="23350772" y="229138"/>
                  </a:cubicBezTo>
                  <a:lnTo>
                    <a:pt x="23350772" y="1718902"/>
                  </a:lnTo>
                  <a:cubicBezTo>
                    <a:pt x="23350772" y="1845535"/>
                    <a:pt x="23190104" y="1948040"/>
                    <a:pt x="22992130" y="1948040"/>
                  </a:cubicBezTo>
                  <a:lnTo>
                    <a:pt x="358641" y="1948040"/>
                  </a:lnTo>
                  <a:cubicBezTo>
                    <a:pt x="160667" y="1948181"/>
                    <a:pt x="0" y="1845535"/>
                    <a:pt x="0" y="1718902"/>
                  </a:cubicBezTo>
                  <a:close/>
                </a:path>
              </a:pathLst>
            </a:custGeom>
            <a:solidFill>
              <a:srgbClr val="E8EEF9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904643" y="6455433"/>
            <a:ext cx="16478697" cy="552979"/>
            <a:chOff x="0" y="0"/>
            <a:chExt cx="21971596" cy="73730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1971595" cy="737305"/>
            </a:xfrm>
            <a:custGeom>
              <a:avLst/>
              <a:gdLst/>
              <a:ahLst/>
              <a:cxnLst/>
              <a:rect r="r" b="b" t="t" l="l"/>
              <a:pathLst>
                <a:path h="737305" w="21971595">
                  <a:moveTo>
                    <a:pt x="0" y="0"/>
                  </a:moveTo>
                  <a:lnTo>
                    <a:pt x="21971595" y="0"/>
                  </a:lnTo>
                  <a:lnTo>
                    <a:pt x="21971595" y="737305"/>
                  </a:lnTo>
                  <a:lnTo>
                    <a:pt x="0" y="7373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9209" r="44510" b="-265195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1971596" cy="7754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Índice del padre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904643" y="7089887"/>
            <a:ext cx="16478697" cy="589588"/>
            <a:chOff x="0" y="0"/>
            <a:chExt cx="21971596" cy="78611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71595" cy="786118"/>
            </a:xfrm>
            <a:custGeom>
              <a:avLst/>
              <a:gdLst/>
              <a:ahLst/>
              <a:cxnLst/>
              <a:rect r="r" b="b" t="t" l="l"/>
              <a:pathLst>
                <a:path h="786118" w="21971595">
                  <a:moveTo>
                    <a:pt x="0" y="0"/>
                  </a:moveTo>
                  <a:lnTo>
                    <a:pt x="21971595" y="0"/>
                  </a:lnTo>
                  <a:lnTo>
                    <a:pt x="21971595" y="786118"/>
                  </a:lnTo>
                  <a:lnTo>
                    <a:pt x="0" y="7861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8770" r="44510" b="-245621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1971596" cy="8242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padre = (i - 1) / 2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387401" y="8085991"/>
            <a:ext cx="17513199" cy="1461107"/>
            <a:chOff x="0" y="0"/>
            <a:chExt cx="23350932" cy="1948143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3350772" cy="1948040"/>
            </a:xfrm>
            <a:custGeom>
              <a:avLst/>
              <a:gdLst/>
              <a:ahLst/>
              <a:cxnLst/>
              <a:rect r="r" b="b" t="t" l="l"/>
              <a:pathLst>
                <a:path h="1948040" w="23350772">
                  <a:moveTo>
                    <a:pt x="0" y="229138"/>
                  </a:moveTo>
                  <a:cubicBezTo>
                    <a:pt x="0" y="102652"/>
                    <a:pt x="160667" y="0"/>
                    <a:pt x="358641" y="0"/>
                  </a:cubicBezTo>
                  <a:lnTo>
                    <a:pt x="22992130" y="0"/>
                  </a:lnTo>
                  <a:cubicBezTo>
                    <a:pt x="23190333" y="0"/>
                    <a:pt x="23350772" y="102652"/>
                    <a:pt x="23350772" y="229138"/>
                  </a:cubicBezTo>
                  <a:lnTo>
                    <a:pt x="23350772" y="1718902"/>
                  </a:lnTo>
                  <a:cubicBezTo>
                    <a:pt x="23350772" y="1845535"/>
                    <a:pt x="23190104" y="1948040"/>
                    <a:pt x="22992130" y="1948040"/>
                  </a:cubicBezTo>
                  <a:lnTo>
                    <a:pt x="358641" y="1948040"/>
                  </a:lnTo>
                  <a:cubicBezTo>
                    <a:pt x="160667" y="1948181"/>
                    <a:pt x="0" y="1845535"/>
                    <a:pt x="0" y="1718902"/>
                  </a:cubicBezTo>
                  <a:close/>
                </a:path>
              </a:pathLst>
            </a:custGeom>
            <a:solidFill>
              <a:srgbClr val="E8EEF9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904643" y="8182085"/>
            <a:ext cx="16478697" cy="552979"/>
            <a:chOff x="0" y="0"/>
            <a:chExt cx="21971596" cy="737305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1971595" cy="737305"/>
            </a:xfrm>
            <a:custGeom>
              <a:avLst/>
              <a:gdLst/>
              <a:ahLst/>
              <a:cxnLst/>
              <a:rect r="r" b="b" t="t" l="l"/>
              <a:pathLst>
                <a:path h="737305" w="21971595">
                  <a:moveTo>
                    <a:pt x="0" y="0"/>
                  </a:moveTo>
                  <a:lnTo>
                    <a:pt x="21971595" y="0"/>
                  </a:lnTo>
                  <a:lnTo>
                    <a:pt x="21971595" y="737305"/>
                  </a:lnTo>
                  <a:lnTo>
                    <a:pt x="0" y="7373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9209" r="44510" b="-265195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21971596" cy="7754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Hijos de i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904643" y="8816539"/>
            <a:ext cx="16478697" cy="589588"/>
            <a:chOff x="0" y="0"/>
            <a:chExt cx="21971596" cy="78611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1971595" cy="786118"/>
            </a:xfrm>
            <a:custGeom>
              <a:avLst/>
              <a:gdLst/>
              <a:ahLst/>
              <a:cxnLst/>
              <a:rect r="r" b="b" t="t" l="l"/>
              <a:pathLst>
                <a:path h="786118" w="21971595">
                  <a:moveTo>
                    <a:pt x="0" y="0"/>
                  </a:moveTo>
                  <a:lnTo>
                    <a:pt x="21971595" y="0"/>
                  </a:lnTo>
                  <a:lnTo>
                    <a:pt x="21971595" y="786118"/>
                  </a:lnTo>
                  <a:lnTo>
                    <a:pt x="0" y="7861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8770" r="44510" b="-245621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21971596" cy="8242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izq = 2i + 1  |  der = 2i + 2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6586454" y="7972806"/>
            <a:ext cx="38100" cy="1574292"/>
            <a:chOff x="0" y="0"/>
            <a:chExt cx="50800" cy="209905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0800" cy="2099056"/>
            </a:xfrm>
            <a:custGeom>
              <a:avLst/>
              <a:gdLst/>
              <a:ahLst/>
              <a:cxnLst/>
              <a:rect r="r" b="b" t="t" l="l"/>
              <a:pathLst>
                <a:path h="2099056" w="50800">
                  <a:moveTo>
                    <a:pt x="0" y="0"/>
                  </a:moveTo>
                  <a:lnTo>
                    <a:pt x="50800" y="2099056"/>
                  </a:lnTo>
                </a:path>
              </a:pathLst>
            </a:custGeom>
            <a:blipFill>
              <a:blip r:embed="rId3">
                <a:alphaModFix amt="0"/>
              </a:blip>
              <a:stretch>
                <a:fillRect l="-5251503" t="0" r="-5251503" b="0"/>
              </a:stretch>
            </a:blipFill>
            <a:ln w="38100" cap="sq">
              <a:solidFill>
                <a:srgbClr val="64748B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8313403" cy="2037083"/>
            <a:chOff x="0" y="0"/>
            <a:chExt cx="24417871" cy="27161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17910" cy="2716149"/>
            </a:xfrm>
            <a:custGeom>
              <a:avLst/>
              <a:gdLst/>
              <a:ahLst/>
              <a:cxnLst/>
              <a:rect r="r" b="b" t="t" l="l"/>
              <a:pathLst>
                <a:path h="2716149" w="24417910">
                  <a:moveTo>
                    <a:pt x="0" y="0"/>
                  </a:moveTo>
                  <a:lnTo>
                    <a:pt x="24417910" y="0"/>
                  </a:lnTo>
                  <a:lnTo>
                    <a:pt x="24417910" y="2716149"/>
                  </a:lnTo>
                  <a:lnTo>
                    <a:pt x="0" y="2716149"/>
                  </a:lnTo>
                  <a:close/>
                </a:path>
              </a:pathLst>
            </a:custGeom>
            <a:solidFill>
              <a:srgbClr val="0F1B4C"/>
            </a:solidFill>
            <a:ln w="25400" cap="sq">
              <a:solidFill>
                <a:srgbClr val="0F1B4C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0"/>
            <a:ext cx="16459200" cy="2011680"/>
            <a:chOff x="0" y="0"/>
            <a:chExt cx="21945600" cy="26822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682240"/>
            </a:xfrm>
            <a:custGeom>
              <a:avLst/>
              <a:gdLst/>
              <a:ahLst/>
              <a:cxnLst/>
              <a:rect r="r" b="b" t="t" l="l"/>
              <a:pathLst>
                <a:path h="268224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423" r="0" b="-109423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9525"/>
              <a:ext cx="21945600" cy="2691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719"/>
                </a:lnSpc>
              </a:pPr>
              <a:r>
                <a:rPr lang="en-US" sz="5599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Diagramas de Flujo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14400" y="2194560"/>
            <a:ext cx="16459200" cy="822960"/>
            <a:chOff x="0" y="0"/>
            <a:chExt cx="21945600" cy="10972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194560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 elaboraron diagramas de flujo completos para cada método de la clase Estrategia: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27383" y="3242567"/>
            <a:ext cx="8346443" cy="1451867"/>
            <a:chOff x="0" y="0"/>
            <a:chExt cx="11128591" cy="193582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1128502" cy="1935734"/>
            </a:xfrm>
            <a:custGeom>
              <a:avLst/>
              <a:gdLst/>
              <a:ahLst/>
              <a:cxnLst/>
              <a:rect r="r" b="b" t="t" l="l"/>
              <a:pathLst>
                <a:path h="1935734" w="11128502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0930001" y="0"/>
                  </a:lnTo>
                  <a:cubicBezTo>
                    <a:pt x="11039602" y="0"/>
                    <a:pt x="11128502" y="88900"/>
                    <a:pt x="11128502" y="198501"/>
                  </a:cubicBezTo>
                  <a:lnTo>
                    <a:pt x="11128502" y="1737233"/>
                  </a:lnTo>
                  <a:cubicBezTo>
                    <a:pt x="11128502" y="1846834"/>
                    <a:pt x="11039602" y="1935734"/>
                    <a:pt x="10930001" y="1935734"/>
                  </a:cubicBezTo>
                  <a:lnTo>
                    <a:pt x="198501" y="1935734"/>
                  </a:lnTo>
                  <a:cubicBezTo>
                    <a:pt x="88900" y="1935861"/>
                    <a:pt x="0" y="1846961"/>
                    <a:pt x="0" y="1737233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896112" y="3364992"/>
            <a:ext cx="7680960" cy="512064"/>
            <a:chOff x="0" y="0"/>
            <a:chExt cx="10241280" cy="68275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02412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BuscarConHeap()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96112" y="3950208"/>
            <a:ext cx="7680960" cy="585216"/>
            <a:chOff x="0" y="0"/>
            <a:chExt cx="10241280" cy="78028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741" r="0" b="-20574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0241280" cy="8183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Sin rombos iniciales → rombo while → extrae raíz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405623" y="3242567"/>
            <a:ext cx="8346443" cy="1451867"/>
            <a:chOff x="0" y="0"/>
            <a:chExt cx="11128591" cy="193582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1128502" cy="1935734"/>
            </a:xfrm>
            <a:custGeom>
              <a:avLst/>
              <a:gdLst/>
              <a:ahLst/>
              <a:cxnLst/>
              <a:rect r="r" b="b" t="t" l="l"/>
              <a:pathLst>
                <a:path h="1935734" w="11128502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0930001" y="0"/>
                  </a:lnTo>
                  <a:cubicBezTo>
                    <a:pt x="11039602" y="0"/>
                    <a:pt x="11128502" y="88900"/>
                    <a:pt x="11128502" y="198501"/>
                  </a:cubicBezTo>
                  <a:lnTo>
                    <a:pt x="11128502" y="1737233"/>
                  </a:lnTo>
                  <a:cubicBezTo>
                    <a:pt x="11128502" y="1846834"/>
                    <a:pt x="11039602" y="1935734"/>
                    <a:pt x="10930001" y="1935734"/>
                  </a:cubicBezTo>
                  <a:lnTo>
                    <a:pt x="198501" y="1935734"/>
                  </a:lnTo>
                  <a:cubicBezTo>
                    <a:pt x="88900" y="1935861"/>
                    <a:pt x="0" y="1846961"/>
                    <a:pt x="0" y="1737233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674352" y="3364992"/>
            <a:ext cx="7680960" cy="512064"/>
            <a:chOff x="0" y="0"/>
            <a:chExt cx="10241280" cy="68275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102412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BuscarConOtro()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674352" y="3950208"/>
            <a:ext cx="7680960" cy="585216"/>
            <a:chOff x="0" y="0"/>
            <a:chExt cx="10241280" cy="78028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741" r="0" b="-205741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0241280" cy="8183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foreach dicc → lista → Ordenamiento → for toma N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27383" y="4943351"/>
            <a:ext cx="8346443" cy="1451867"/>
            <a:chOff x="0" y="0"/>
            <a:chExt cx="11128591" cy="193582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128502" cy="1935734"/>
            </a:xfrm>
            <a:custGeom>
              <a:avLst/>
              <a:gdLst/>
              <a:ahLst/>
              <a:cxnLst/>
              <a:rect r="r" b="b" t="t" l="l"/>
              <a:pathLst>
                <a:path h="1935734" w="11128502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0930001" y="0"/>
                  </a:lnTo>
                  <a:cubicBezTo>
                    <a:pt x="11039602" y="0"/>
                    <a:pt x="11128502" y="88900"/>
                    <a:pt x="11128502" y="198501"/>
                  </a:cubicBezTo>
                  <a:lnTo>
                    <a:pt x="11128502" y="1737233"/>
                  </a:lnTo>
                  <a:cubicBezTo>
                    <a:pt x="11128502" y="1846834"/>
                    <a:pt x="11039602" y="1935734"/>
                    <a:pt x="10930001" y="1935734"/>
                  </a:cubicBezTo>
                  <a:lnTo>
                    <a:pt x="198501" y="1935734"/>
                  </a:lnTo>
                  <a:cubicBezTo>
                    <a:pt x="88900" y="1935861"/>
                    <a:pt x="0" y="1846961"/>
                    <a:pt x="0" y="1737233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896112" y="5065776"/>
            <a:ext cx="7680960" cy="512064"/>
            <a:chOff x="0" y="0"/>
            <a:chExt cx="10241280" cy="68275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102412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FiltrarArriba()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896112" y="5650992"/>
            <a:ext cx="7680960" cy="585216"/>
            <a:chOff x="0" y="0"/>
            <a:chExt cx="10241280" cy="78028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741" r="0" b="-205741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10241280" cy="8183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 rombo while: sube mientras supera al padre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9405623" y="4943351"/>
            <a:ext cx="8346443" cy="1451867"/>
            <a:chOff x="0" y="0"/>
            <a:chExt cx="11128591" cy="1935823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1128502" cy="1935734"/>
            </a:xfrm>
            <a:custGeom>
              <a:avLst/>
              <a:gdLst/>
              <a:ahLst/>
              <a:cxnLst/>
              <a:rect r="r" b="b" t="t" l="l"/>
              <a:pathLst>
                <a:path h="1935734" w="11128502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0930001" y="0"/>
                  </a:lnTo>
                  <a:cubicBezTo>
                    <a:pt x="11039602" y="0"/>
                    <a:pt x="11128502" y="88900"/>
                    <a:pt x="11128502" y="198501"/>
                  </a:cubicBezTo>
                  <a:lnTo>
                    <a:pt x="11128502" y="1737233"/>
                  </a:lnTo>
                  <a:cubicBezTo>
                    <a:pt x="11128502" y="1846834"/>
                    <a:pt x="11039602" y="1935734"/>
                    <a:pt x="10930001" y="1935734"/>
                  </a:cubicBezTo>
                  <a:lnTo>
                    <a:pt x="198501" y="1935734"/>
                  </a:lnTo>
                  <a:cubicBezTo>
                    <a:pt x="88900" y="1935861"/>
                    <a:pt x="0" y="1846961"/>
                    <a:pt x="0" y="1737233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9674352" y="5065776"/>
            <a:ext cx="7680960" cy="512064"/>
            <a:chOff x="0" y="0"/>
            <a:chExt cx="10241280" cy="68275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02412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FiltrarAbajo()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9674352" y="5650992"/>
            <a:ext cx="7680960" cy="585216"/>
            <a:chOff x="0" y="0"/>
            <a:chExt cx="10241280" cy="780288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741" r="0" b="-205741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10241280" cy="8183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 rombos if + 1 rombo while: baja al hijo mayor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627383" y="6644135"/>
            <a:ext cx="8346443" cy="1451867"/>
            <a:chOff x="0" y="0"/>
            <a:chExt cx="11128591" cy="1935823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1128502" cy="1935734"/>
            </a:xfrm>
            <a:custGeom>
              <a:avLst/>
              <a:gdLst/>
              <a:ahLst/>
              <a:cxnLst/>
              <a:rect r="r" b="b" t="t" l="l"/>
              <a:pathLst>
                <a:path h="1935734" w="11128502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0930001" y="0"/>
                  </a:lnTo>
                  <a:cubicBezTo>
                    <a:pt x="11039602" y="0"/>
                    <a:pt x="11128502" y="88900"/>
                    <a:pt x="11128502" y="198501"/>
                  </a:cubicBezTo>
                  <a:lnTo>
                    <a:pt x="11128502" y="1737233"/>
                  </a:lnTo>
                  <a:cubicBezTo>
                    <a:pt x="11128502" y="1846834"/>
                    <a:pt x="11039602" y="1935734"/>
                    <a:pt x="10930001" y="1935734"/>
                  </a:cubicBezTo>
                  <a:lnTo>
                    <a:pt x="198501" y="1935734"/>
                  </a:lnTo>
                  <a:cubicBezTo>
                    <a:pt x="88900" y="1935861"/>
                    <a:pt x="0" y="1846961"/>
                    <a:pt x="0" y="1737233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896112" y="6766560"/>
            <a:ext cx="7680960" cy="512064"/>
            <a:chOff x="0" y="0"/>
            <a:chExt cx="10241280" cy="682752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02412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Ordenamiento()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896112" y="7351776"/>
            <a:ext cx="7680960" cy="585216"/>
            <a:chOff x="0" y="0"/>
            <a:chExt cx="10241280" cy="780288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741" r="0" b="-205741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10241280" cy="8183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 for anidados + 1 if: selección descendente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9405623" y="6644135"/>
            <a:ext cx="8346443" cy="1451867"/>
            <a:chOff x="0" y="0"/>
            <a:chExt cx="11128591" cy="1935823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1128502" cy="1935734"/>
            </a:xfrm>
            <a:custGeom>
              <a:avLst/>
              <a:gdLst/>
              <a:ahLst/>
              <a:cxnLst/>
              <a:rect r="r" b="b" t="t" l="l"/>
              <a:pathLst>
                <a:path h="1935734" w="11128502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0930001" y="0"/>
                  </a:lnTo>
                  <a:cubicBezTo>
                    <a:pt x="11039602" y="0"/>
                    <a:pt x="11128502" y="88900"/>
                    <a:pt x="11128502" y="198501"/>
                  </a:cubicBezTo>
                  <a:lnTo>
                    <a:pt x="11128502" y="1737233"/>
                  </a:lnTo>
                  <a:cubicBezTo>
                    <a:pt x="11128502" y="1846834"/>
                    <a:pt x="11039602" y="1935734"/>
                    <a:pt x="10930001" y="1935734"/>
                  </a:cubicBezTo>
                  <a:lnTo>
                    <a:pt x="198501" y="1935734"/>
                  </a:lnTo>
                  <a:cubicBezTo>
                    <a:pt x="88900" y="1935861"/>
                    <a:pt x="0" y="1846961"/>
                    <a:pt x="0" y="1737233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9674352" y="6766560"/>
            <a:ext cx="7680960" cy="512064"/>
            <a:chOff x="0" y="0"/>
            <a:chExt cx="10241280" cy="682752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02412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Consulta1()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9674352" y="7351776"/>
            <a:ext cx="7680960" cy="585216"/>
            <a:chOff x="0" y="0"/>
            <a:chExt cx="10241280" cy="780288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741" r="0" b="-205741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10241280" cy="8183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Secuencia lineal: cronómetro × 2, sin rombos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627383" y="8344919"/>
            <a:ext cx="8346443" cy="1451867"/>
            <a:chOff x="0" y="0"/>
            <a:chExt cx="11128591" cy="1935823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1128502" cy="1935734"/>
            </a:xfrm>
            <a:custGeom>
              <a:avLst/>
              <a:gdLst/>
              <a:ahLst/>
              <a:cxnLst/>
              <a:rect r="r" b="b" t="t" l="l"/>
              <a:pathLst>
                <a:path h="1935734" w="11128502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0930001" y="0"/>
                  </a:lnTo>
                  <a:cubicBezTo>
                    <a:pt x="11039602" y="0"/>
                    <a:pt x="11128502" y="88900"/>
                    <a:pt x="11128502" y="198501"/>
                  </a:cubicBezTo>
                  <a:lnTo>
                    <a:pt x="11128502" y="1737233"/>
                  </a:lnTo>
                  <a:cubicBezTo>
                    <a:pt x="11128502" y="1846834"/>
                    <a:pt x="11039602" y="1935734"/>
                    <a:pt x="10930001" y="1935734"/>
                  </a:cubicBezTo>
                  <a:lnTo>
                    <a:pt x="198501" y="1935734"/>
                  </a:lnTo>
                  <a:cubicBezTo>
                    <a:pt x="88900" y="1935861"/>
                    <a:pt x="0" y="1846961"/>
                    <a:pt x="0" y="1737233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896112" y="8467344"/>
            <a:ext cx="7680960" cy="512064"/>
            <a:chOff x="0" y="0"/>
            <a:chExt cx="10241280" cy="682752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38100"/>
              <a:ext cx="102412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Consulta2()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896112" y="9052560"/>
            <a:ext cx="7680960" cy="585216"/>
            <a:chOff x="0" y="0"/>
            <a:chExt cx="10241280" cy="780288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741" r="0" b="-205741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10241280" cy="8183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foreach + while: recorre siempre hijo izquierdo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9405623" y="8344919"/>
            <a:ext cx="8346443" cy="1451867"/>
            <a:chOff x="0" y="0"/>
            <a:chExt cx="11128591" cy="1935823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1128502" cy="1935734"/>
            </a:xfrm>
            <a:custGeom>
              <a:avLst/>
              <a:gdLst/>
              <a:ahLst/>
              <a:cxnLst/>
              <a:rect r="r" b="b" t="t" l="l"/>
              <a:pathLst>
                <a:path h="1935734" w="11128502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0930001" y="0"/>
                  </a:lnTo>
                  <a:cubicBezTo>
                    <a:pt x="11039602" y="0"/>
                    <a:pt x="11128502" y="88900"/>
                    <a:pt x="11128502" y="198501"/>
                  </a:cubicBezTo>
                  <a:lnTo>
                    <a:pt x="11128502" y="1737233"/>
                  </a:lnTo>
                  <a:cubicBezTo>
                    <a:pt x="11128502" y="1846834"/>
                    <a:pt x="11039602" y="1935734"/>
                    <a:pt x="10930001" y="1935734"/>
                  </a:cubicBezTo>
                  <a:lnTo>
                    <a:pt x="198501" y="1935734"/>
                  </a:lnTo>
                  <a:cubicBezTo>
                    <a:pt x="88900" y="1935861"/>
                    <a:pt x="0" y="1846961"/>
                    <a:pt x="0" y="1737233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CADCFC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9674352" y="8467344"/>
            <a:ext cx="7680960" cy="512064"/>
            <a:chOff x="0" y="0"/>
            <a:chExt cx="10241280" cy="682752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102412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Consulta3()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9674352" y="9052560"/>
            <a:ext cx="7680960" cy="585216"/>
            <a:chOff x="0" y="0"/>
            <a:chExt cx="10241280" cy="780288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10241280" cy="780288"/>
            </a:xfrm>
            <a:custGeom>
              <a:avLst/>
              <a:gdLst/>
              <a:ahLst/>
              <a:cxnLst/>
              <a:rect r="r" b="b" t="t" l="l"/>
              <a:pathLst>
                <a:path h="780288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5741" r="0" b="-205741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10241280" cy="8183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80"/>
                </a:lnSpc>
              </a:pPr>
              <a:r>
                <a:rPr lang="en-US" sz="1900">
                  <a:solidFill>
                    <a:srgbClr val="47556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foreach + for + if: recorre heap nivel por nivel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788903" y="-1475737"/>
            <a:ext cx="8255003" cy="8255003"/>
            <a:chOff x="0" y="0"/>
            <a:chExt cx="11006671" cy="110066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006709" cy="11006709"/>
            </a:xfrm>
            <a:custGeom>
              <a:avLst/>
              <a:gdLst/>
              <a:ahLst/>
              <a:cxnLst/>
              <a:rect r="r" b="b" t="t" l="l"/>
              <a:pathLst>
                <a:path h="11006709" w="11006709">
                  <a:moveTo>
                    <a:pt x="0" y="5503291"/>
                  </a:moveTo>
                  <a:cubicBezTo>
                    <a:pt x="0" y="2463927"/>
                    <a:pt x="2463927" y="0"/>
                    <a:pt x="5503291" y="0"/>
                  </a:cubicBezTo>
                  <a:cubicBezTo>
                    <a:pt x="8542655" y="0"/>
                    <a:pt x="11006709" y="2463927"/>
                    <a:pt x="11006709" y="5503291"/>
                  </a:cubicBezTo>
                  <a:cubicBezTo>
                    <a:pt x="11006709" y="8542655"/>
                    <a:pt x="8542782" y="11006709"/>
                    <a:pt x="5503291" y="11006709"/>
                  </a:cubicBezTo>
                  <a:cubicBezTo>
                    <a:pt x="2463800" y="11006709"/>
                    <a:pt x="0" y="8542782"/>
                    <a:pt x="0" y="5503291"/>
                  </a:cubicBezTo>
                  <a:close/>
                </a:path>
              </a:pathLst>
            </a:custGeom>
            <a:solidFill>
              <a:srgbClr val="3A5199">
                <a:alpha val="8627"/>
              </a:srgbClr>
            </a:solidFill>
            <a:ln w="25400" cap="sq">
              <a:solidFill>
                <a:srgbClr val="3A5199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-1841497" y="6388103"/>
            <a:ext cx="6426203" cy="6426203"/>
            <a:chOff x="0" y="0"/>
            <a:chExt cx="8568271" cy="856827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568309" cy="8568309"/>
            </a:xfrm>
            <a:custGeom>
              <a:avLst/>
              <a:gdLst/>
              <a:ahLst/>
              <a:cxnLst/>
              <a:rect r="r" b="b" t="t" l="l"/>
              <a:pathLst>
                <a:path h="8568309" w="8568309">
                  <a:moveTo>
                    <a:pt x="0" y="4284091"/>
                  </a:moveTo>
                  <a:cubicBezTo>
                    <a:pt x="0" y="1918081"/>
                    <a:pt x="1918081" y="0"/>
                    <a:pt x="4284091" y="0"/>
                  </a:cubicBezTo>
                  <a:cubicBezTo>
                    <a:pt x="6650101" y="0"/>
                    <a:pt x="8568309" y="1918081"/>
                    <a:pt x="8568309" y="4284091"/>
                  </a:cubicBezTo>
                  <a:cubicBezTo>
                    <a:pt x="8568309" y="6650101"/>
                    <a:pt x="6650228" y="8568309"/>
                    <a:pt x="4284091" y="8568309"/>
                  </a:cubicBezTo>
                  <a:cubicBezTo>
                    <a:pt x="1917953" y="8568309"/>
                    <a:pt x="0" y="6650228"/>
                    <a:pt x="0" y="4284091"/>
                  </a:cubicBezTo>
                  <a:close/>
                </a:path>
              </a:pathLst>
            </a:custGeom>
            <a:solidFill>
              <a:srgbClr val="F9A825">
                <a:alpha val="3922"/>
              </a:srgbClr>
            </a:solidFill>
            <a:ln w="25400" cap="sq">
              <a:solidFill>
                <a:srgbClr val="F9A825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" y="640080"/>
            <a:ext cx="16459200" cy="1188720"/>
            <a:chOff x="0" y="0"/>
            <a:chExt cx="21945600" cy="15849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1584960"/>
            </a:xfrm>
            <a:custGeom>
              <a:avLst/>
              <a:gdLst/>
              <a:ahLst/>
              <a:cxnLst/>
              <a:rect r="r" b="b" t="t" l="l"/>
              <a:pathLst>
                <a:path h="15849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584960"/>
                  </a:lnTo>
                  <a:lnTo>
                    <a:pt x="0" y="1584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9792" r="0" b="-219792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21945600" cy="15944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680"/>
                </a:lnSpc>
              </a:pPr>
              <a:r>
                <a:rPr lang="en-US" sz="64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Conclusiones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01703" y="2090423"/>
            <a:ext cx="16484603" cy="1634747"/>
            <a:chOff x="0" y="0"/>
            <a:chExt cx="21979471" cy="217966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79382" cy="2179574"/>
            </a:xfrm>
            <a:custGeom>
              <a:avLst/>
              <a:gdLst/>
              <a:ahLst/>
              <a:cxnLst/>
              <a:rect r="r" b="b" t="t" l="l"/>
              <a:pathLst>
                <a:path h="2179574" w="21979382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lnTo>
                    <a:pt x="21731732" y="0"/>
                  </a:lnTo>
                  <a:cubicBezTo>
                    <a:pt x="21868512" y="0"/>
                    <a:pt x="21979382" y="110871"/>
                    <a:pt x="21979382" y="247650"/>
                  </a:cubicBezTo>
                  <a:lnTo>
                    <a:pt x="21979382" y="1931924"/>
                  </a:lnTo>
                  <a:cubicBezTo>
                    <a:pt x="21979382" y="2068703"/>
                    <a:pt x="21868512" y="2179574"/>
                    <a:pt x="21731732" y="2179574"/>
                  </a:cubicBezTo>
                  <a:lnTo>
                    <a:pt x="247650" y="2179574"/>
                  </a:lnTo>
                  <a:cubicBezTo>
                    <a:pt x="110871" y="2179574"/>
                    <a:pt x="0" y="2068703"/>
                    <a:pt x="0" y="1931924"/>
                  </a:cubicBezTo>
                  <a:close/>
                </a:path>
              </a:pathLst>
            </a:custGeom>
            <a:solidFill>
              <a:srgbClr val="FFFFFF">
                <a:alpha val="1176"/>
              </a:srgbClr>
            </a:solidFill>
            <a:ln w="254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8720" y="2322576"/>
            <a:ext cx="914400" cy="1005840"/>
            <a:chOff x="0" y="0"/>
            <a:chExt cx="1219200" cy="13411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21920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1133" t="0" r="-91133" b="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21920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⚡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286000" y="2249424"/>
            <a:ext cx="14447520" cy="548640"/>
            <a:chOff x="0" y="0"/>
            <a:chExt cx="19263360" cy="7315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3106" r="0" b="-463106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192633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El Max-Heap supera al ordenamiento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286000" y="2871216"/>
            <a:ext cx="14447520" cy="548640"/>
            <a:chOff x="0" y="0"/>
            <a:chExt cx="19263360" cy="7315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3106" r="0" b="-463106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92633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ADC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O(n log n) vs O(n²) — ventaja clara en grandes datasets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01703" y="4010663"/>
            <a:ext cx="16484603" cy="1634747"/>
            <a:chOff x="0" y="0"/>
            <a:chExt cx="21979471" cy="217966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979382" cy="2179574"/>
            </a:xfrm>
            <a:custGeom>
              <a:avLst/>
              <a:gdLst/>
              <a:ahLst/>
              <a:cxnLst/>
              <a:rect r="r" b="b" t="t" l="l"/>
              <a:pathLst>
                <a:path h="2179574" w="21979382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lnTo>
                    <a:pt x="21731732" y="0"/>
                  </a:lnTo>
                  <a:cubicBezTo>
                    <a:pt x="21868512" y="0"/>
                    <a:pt x="21979382" y="110871"/>
                    <a:pt x="21979382" y="247650"/>
                  </a:cubicBezTo>
                  <a:lnTo>
                    <a:pt x="21979382" y="1931924"/>
                  </a:lnTo>
                  <a:cubicBezTo>
                    <a:pt x="21979382" y="2068703"/>
                    <a:pt x="21868512" y="2179574"/>
                    <a:pt x="21731732" y="2179574"/>
                  </a:cubicBezTo>
                  <a:lnTo>
                    <a:pt x="247650" y="2179574"/>
                  </a:lnTo>
                  <a:cubicBezTo>
                    <a:pt x="110871" y="2179574"/>
                    <a:pt x="0" y="2068703"/>
                    <a:pt x="0" y="1931924"/>
                  </a:cubicBezTo>
                  <a:close/>
                </a:path>
              </a:pathLst>
            </a:custGeom>
            <a:solidFill>
              <a:srgbClr val="FFFFFF">
                <a:alpha val="1176"/>
              </a:srgbClr>
            </a:solidFill>
            <a:ln w="254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88720" y="4242816"/>
            <a:ext cx="914400" cy="1005840"/>
            <a:chOff x="0" y="0"/>
            <a:chExt cx="1219200" cy="134112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21920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1133" t="0" r="-91133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76200"/>
              <a:ext cx="121920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🧩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2286000" y="4169664"/>
            <a:ext cx="14447520" cy="548640"/>
            <a:chOff x="0" y="0"/>
            <a:chExt cx="19263360" cy="7315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3106" r="0" b="-463106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192633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Integración de estructuras clave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2286000" y="4791456"/>
            <a:ext cx="14447520" cy="548640"/>
            <a:chOff x="0" y="0"/>
            <a:chExt cx="19263360" cy="7315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3106" r="0" b="-46310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47625"/>
              <a:ext cx="192633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ADC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Heap, Dictionary y List trabajando en conjunto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01703" y="5930903"/>
            <a:ext cx="16484603" cy="1634747"/>
            <a:chOff x="0" y="0"/>
            <a:chExt cx="21979471" cy="2179663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1979382" cy="2179574"/>
            </a:xfrm>
            <a:custGeom>
              <a:avLst/>
              <a:gdLst/>
              <a:ahLst/>
              <a:cxnLst/>
              <a:rect r="r" b="b" t="t" l="l"/>
              <a:pathLst>
                <a:path h="2179574" w="21979382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lnTo>
                    <a:pt x="21731732" y="0"/>
                  </a:lnTo>
                  <a:cubicBezTo>
                    <a:pt x="21868512" y="0"/>
                    <a:pt x="21979382" y="110871"/>
                    <a:pt x="21979382" y="247650"/>
                  </a:cubicBezTo>
                  <a:lnTo>
                    <a:pt x="21979382" y="1931924"/>
                  </a:lnTo>
                  <a:cubicBezTo>
                    <a:pt x="21979382" y="2068703"/>
                    <a:pt x="21868512" y="2179574"/>
                    <a:pt x="21731732" y="2179574"/>
                  </a:cubicBezTo>
                  <a:lnTo>
                    <a:pt x="247650" y="2179574"/>
                  </a:lnTo>
                  <a:cubicBezTo>
                    <a:pt x="110871" y="2179574"/>
                    <a:pt x="0" y="2068703"/>
                    <a:pt x="0" y="1931924"/>
                  </a:cubicBezTo>
                  <a:close/>
                </a:path>
              </a:pathLst>
            </a:custGeom>
            <a:solidFill>
              <a:srgbClr val="FFFFFF">
                <a:alpha val="1176"/>
              </a:srgbClr>
            </a:solidFill>
            <a:ln w="254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1188720" y="6163056"/>
            <a:ext cx="914400" cy="1005840"/>
            <a:chOff x="0" y="0"/>
            <a:chExt cx="1219200" cy="134112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21920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1133" t="0" r="-91133" b="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76200"/>
              <a:ext cx="121920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📈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2286000" y="6089904"/>
            <a:ext cx="14447520" cy="548640"/>
            <a:chOff x="0" y="0"/>
            <a:chExt cx="19263360" cy="73152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3106" r="0" b="-463106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57150"/>
              <a:ext cx="192633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Medición objetiva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2286000" y="6711696"/>
            <a:ext cx="14447520" cy="548640"/>
            <a:chOff x="0" y="0"/>
            <a:chExt cx="19263360" cy="73152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3106" r="0" b="-463106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47625"/>
              <a:ext cx="192633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ADC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Consulta1 permite comparar ambos métodos con datos reales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901703" y="7851143"/>
            <a:ext cx="16484603" cy="1634747"/>
            <a:chOff x="0" y="0"/>
            <a:chExt cx="21979471" cy="2179663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1979382" cy="2179574"/>
            </a:xfrm>
            <a:custGeom>
              <a:avLst/>
              <a:gdLst/>
              <a:ahLst/>
              <a:cxnLst/>
              <a:rect r="r" b="b" t="t" l="l"/>
              <a:pathLst>
                <a:path h="2179574" w="21979382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lnTo>
                    <a:pt x="21731732" y="0"/>
                  </a:lnTo>
                  <a:cubicBezTo>
                    <a:pt x="21868512" y="0"/>
                    <a:pt x="21979382" y="110871"/>
                    <a:pt x="21979382" y="247650"/>
                  </a:cubicBezTo>
                  <a:lnTo>
                    <a:pt x="21979382" y="1931924"/>
                  </a:lnTo>
                  <a:cubicBezTo>
                    <a:pt x="21979382" y="2068703"/>
                    <a:pt x="21868512" y="2179574"/>
                    <a:pt x="21731732" y="2179574"/>
                  </a:cubicBezTo>
                  <a:lnTo>
                    <a:pt x="247650" y="2179574"/>
                  </a:lnTo>
                  <a:cubicBezTo>
                    <a:pt x="110871" y="2179574"/>
                    <a:pt x="0" y="2068703"/>
                    <a:pt x="0" y="1931924"/>
                  </a:cubicBezTo>
                  <a:close/>
                </a:path>
              </a:pathLst>
            </a:custGeom>
            <a:solidFill>
              <a:srgbClr val="FFFFFF">
                <a:alpha val="1176"/>
              </a:srgbClr>
            </a:solidFill>
            <a:ln w="2540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1188720" y="8083296"/>
            <a:ext cx="914400" cy="1005840"/>
            <a:chOff x="0" y="0"/>
            <a:chExt cx="1219200" cy="13411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219200" cy="1341120"/>
            </a:xfrm>
            <a:custGeom>
              <a:avLst/>
              <a:gdLst/>
              <a:ahLst/>
              <a:cxnLst/>
              <a:rect r="r" b="b" t="t" l="l"/>
              <a:pathLst>
                <a:path h="1341120" w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1133" t="0" r="-91133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76200"/>
              <a:ext cx="121920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🌲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2286000" y="8010144"/>
            <a:ext cx="14447520" cy="548640"/>
            <a:chOff x="0" y="0"/>
            <a:chExt cx="19263360" cy="7315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3106" r="0" b="-463106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57150"/>
              <a:ext cx="1926336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rPr lang="en-US" sz="26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Visualización del Heap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2286000" y="8631936"/>
            <a:ext cx="14447520" cy="548640"/>
            <a:chOff x="0" y="0"/>
            <a:chExt cx="19263360" cy="73152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9263361" cy="731520"/>
            </a:xfrm>
            <a:custGeom>
              <a:avLst/>
              <a:gdLst/>
              <a:ahLst/>
              <a:cxnLst/>
              <a:rect r="r" b="b" t="t" l="l"/>
              <a:pathLst>
                <a:path h="731520" w="19263361">
                  <a:moveTo>
                    <a:pt x="0" y="0"/>
                  </a:moveTo>
                  <a:lnTo>
                    <a:pt x="19263361" y="0"/>
                  </a:lnTo>
                  <a:lnTo>
                    <a:pt x="19263361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3106" r="0" b="-463106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47625"/>
              <a:ext cx="1926336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CADC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Consulta2 y Consulta3 revelan la estructura interna del árbol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DAHMrjiaIHE</dc:identifier>
  <dcterms:modified xsi:type="dcterms:W3CDTF">2011-08-01T06:04:30Z</dcterms:modified>
  <cp:revision>1</cp:revision>
  <dc:title>TP_Final_Estrategia.pptx</dc:title>
</cp:coreProperties>
</file>